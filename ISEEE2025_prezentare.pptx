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95" r:id="rId14"/>
    <p:sldId id="302" r:id="rId15"/>
    <p:sldId id="268" r:id="rId16"/>
    <p:sldId id="269" r:id="rId17"/>
    <p:sldId id="296" r:id="rId18"/>
    <p:sldId id="271" r:id="rId19"/>
    <p:sldId id="270" r:id="rId20"/>
    <p:sldId id="272" r:id="rId21"/>
    <p:sldId id="273" r:id="rId22"/>
    <p:sldId id="274" r:id="rId23"/>
    <p:sldId id="301" r:id="rId24"/>
    <p:sldId id="275" r:id="rId25"/>
    <p:sldId id="276" r:id="rId26"/>
    <p:sldId id="298" r:id="rId27"/>
    <p:sldId id="300" r:id="rId28"/>
    <p:sldId id="299" r:id="rId29"/>
    <p:sldId id="297" r:id="rId30"/>
    <p:sldId id="277" r:id="rId31"/>
    <p:sldId id="278" r:id="rId32"/>
    <p:sldId id="279" r:id="rId33"/>
    <p:sldId id="280" r:id="rId34"/>
    <p:sldId id="281" r:id="rId35"/>
    <p:sldId id="282" r:id="rId36"/>
    <p:sldId id="294" r:id="rId37"/>
    <p:sldId id="293" r:id="rId38"/>
    <p:sldId id="283" r:id="rId39"/>
    <p:sldId id="284" r:id="rId40"/>
    <p:sldId id="285" r:id="rId41"/>
    <p:sldId id="286" r:id="rId42"/>
    <p:sldId id="28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55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A717-8E37-835C-A292-4A8D70A944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20B24-485D-2BFD-1A9C-D7EB97B394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71B406-74BC-B3AF-5552-6FC51F40E296}"/>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5" name="Footer Placeholder 4">
            <a:extLst>
              <a:ext uri="{FF2B5EF4-FFF2-40B4-BE49-F238E27FC236}">
                <a16:creationId xmlns:a16="http://schemas.microsoft.com/office/drawing/2014/main" id="{B19F7BE8-00B5-8264-B4FC-36A0DE273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0B29D-35B9-3735-C2C4-0F148C15875A}"/>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130201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DC911-A907-1F08-A60E-4709B4F433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B8381E-3725-4DF6-72F0-C550E6A94E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FB15D5-C8ED-D987-9418-B3704124FCD0}"/>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5" name="Footer Placeholder 4">
            <a:extLst>
              <a:ext uri="{FF2B5EF4-FFF2-40B4-BE49-F238E27FC236}">
                <a16:creationId xmlns:a16="http://schemas.microsoft.com/office/drawing/2014/main" id="{F743DEF2-1FF8-F92F-C0F6-421FFF4CF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4769F-4CC3-9E69-F9EB-2E4C088FCEA0}"/>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174983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B4A8-CD36-0B7A-7778-CCE64CBEBC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A64A1E-F5A4-E532-2CB5-69B11C9E0E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F3F069-A03C-4632-68D5-9F6FE9C3FF60}"/>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5" name="Footer Placeholder 4">
            <a:extLst>
              <a:ext uri="{FF2B5EF4-FFF2-40B4-BE49-F238E27FC236}">
                <a16:creationId xmlns:a16="http://schemas.microsoft.com/office/drawing/2014/main" id="{C61E9EAF-F771-3373-13CD-9F734971B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97BFC1-D03D-5338-588D-3266CED36E57}"/>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1898881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471DC-41FE-EDA5-3C1B-F7F9790261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4D5337-938A-60B0-F29B-4840232671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37A21E-A10A-0166-6C1F-B211D97544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13FEC8-371B-580D-1E16-CDC9724D4B51}"/>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6" name="Footer Placeholder 5">
            <a:extLst>
              <a:ext uri="{FF2B5EF4-FFF2-40B4-BE49-F238E27FC236}">
                <a16:creationId xmlns:a16="http://schemas.microsoft.com/office/drawing/2014/main" id="{E6BFB070-FC5D-47E8-D9D0-AA38723AAB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FCAD19-9CBF-E9DF-5015-C841EFF9A48C}"/>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426156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7F57E-B0B2-4CFF-1AD1-C010354813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BCB9D3-5CDE-103D-5871-8253CBAED3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101922-97A1-1924-96B6-E0D1D529CF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D0E2F6-E24D-E649-5DB6-813E5977A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74C0D7-1542-0C4D-1F7C-AE7E0720B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BC3738-874B-CD8A-73CB-093C45271877}"/>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8" name="Footer Placeholder 7">
            <a:extLst>
              <a:ext uri="{FF2B5EF4-FFF2-40B4-BE49-F238E27FC236}">
                <a16:creationId xmlns:a16="http://schemas.microsoft.com/office/drawing/2014/main" id="{3F029A9D-3F7C-28C1-8956-D77C3CF783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E28555-368B-810E-7A31-06E82F9B09DB}"/>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2117989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92C1A-967A-EFDB-1547-56B97681DF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900750-ECD1-C61D-1D73-BB9DBAAD7003}"/>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4" name="Footer Placeholder 3">
            <a:extLst>
              <a:ext uri="{FF2B5EF4-FFF2-40B4-BE49-F238E27FC236}">
                <a16:creationId xmlns:a16="http://schemas.microsoft.com/office/drawing/2014/main" id="{A6EA70E6-EAFE-2C86-FAD1-B3C86648A2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6A76A6-0816-C27A-B0F8-D4D67C0FCCE6}"/>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127748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A23BA-F40F-E674-0395-DDF5AA04E4DB}"/>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3" name="Footer Placeholder 2">
            <a:extLst>
              <a:ext uri="{FF2B5EF4-FFF2-40B4-BE49-F238E27FC236}">
                <a16:creationId xmlns:a16="http://schemas.microsoft.com/office/drawing/2014/main" id="{CD2FBE34-DA18-63CC-3090-CF35027C59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802971-C62D-CD1D-8C88-4E3D3E1AAABD}"/>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3945407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BBFD1-00B4-89C9-67F9-F1A9468DE9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9D986B-1C80-5D1F-DE5F-2DE46B717A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468AE6-77B4-71E1-8221-B8CDD95133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C71035-935D-2875-0B26-EE5E3C937C67}"/>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6" name="Footer Placeholder 5">
            <a:extLst>
              <a:ext uri="{FF2B5EF4-FFF2-40B4-BE49-F238E27FC236}">
                <a16:creationId xmlns:a16="http://schemas.microsoft.com/office/drawing/2014/main" id="{77522FEF-A7D0-CDF1-CF5F-3304E75E2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945AE4-98A9-B2A9-E3A6-AB3E5CFBB494}"/>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1830183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DCCED-E31B-78C7-3D20-1EA4895DB0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AC60F9-51ED-1147-A3FD-E4C77F2D47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62DF4C-956A-085F-9E5D-CCBB8EB99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3D61D2-6843-57F5-8B36-489751DE9992}"/>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6" name="Footer Placeholder 5">
            <a:extLst>
              <a:ext uri="{FF2B5EF4-FFF2-40B4-BE49-F238E27FC236}">
                <a16:creationId xmlns:a16="http://schemas.microsoft.com/office/drawing/2014/main" id="{0DF703A4-5EF3-ED03-70E2-C519262A4B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DE738A-4663-C915-0D5E-1A6A686DFD21}"/>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2028093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8879-B55A-1F13-18BA-7348E0EA51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6C3B32-C92E-39A1-2DB4-C852EC4AEA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EE5DE2-AC75-120E-4D76-67D1E96B0DCB}"/>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5" name="Footer Placeholder 4">
            <a:extLst>
              <a:ext uri="{FF2B5EF4-FFF2-40B4-BE49-F238E27FC236}">
                <a16:creationId xmlns:a16="http://schemas.microsoft.com/office/drawing/2014/main" id="{BAAC432B-40E7-A105-31FB-F92FA3A76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A3B0F2-0B45-A582-F970-B4ABA8527CB7}"/>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1112883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B7C83D-0962-E619-2696-4BD61468D1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003EF2-294C-1359-2C5F-4E4063743A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2C2CC-AEDD-DCF2-6CEB-95DA5AC25B9E}"/>
              </a:ext>
            </a:extLst>
          </p:cNvPr>
          <p:cNvSpPr>
            <a:spLocks noGrp="1"/>
          </p:cNvSpPr>
          <p:nvPr>
            <p:ph type="dt" sz="half" idx="10"/>
          </p:nvPr>
        </p:nvSpPr>
        <p:spPr/>
        <p:txBody>
          <a:bodyPr/>
          <a:lstStyle/>
          <a:p>
            <a:fld id="{D499A3D8-B93D-49FB-8EC2-AAE4F1BE41B1}" type="datetimeFigureOut">
              <a:rPr lang="en-US" smtClean="0"/>
              <a:t>10/31/2025</a:t>
            </a:fld>
            <a:endParaRPr lang="en-US"/>
          </a:p>
        </p:txBody>
      </p:sp>
      <p:sp>
        <p:nvSpPr>
          <p:cNvPr id="5" name="Footer Placeholder 4">
            <a:extLst>
              <a:ext uri="{FF2B5EF4-FFF2-40B4-BE49-F238E27FC236}">
                <a16:creationId xmlns:a16="http://schemas.microsoft.com/office/drawing/2014/main" id="{913C9E12-A534-3CF7-3306-3A23A47784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5E3815-5F6A-5C1C-3A1A-2314D514B1C8}"/>
              </a:ext>
            </a:extLst>
          </p:cNvPr>
          <p:cNvSpPr>
            <a:spLocks noGrp="1"/>
          </p:cNvSpPr>
          <p:nvPr>
            <p:ph type="sldNum" sz="quarter" idx="12"/>
          </p:nvPr>
        </p:nvSpPr>
        <p:spPr/>
        <p:txBody>
          <a:bodyPr/>
          <a:lstStyle/>
          <a:p>
            <a:fld id="{4E6945D4-5704-42FF-8811-6C3942218BFE}" type="slidenum">
              <a:rPr lang="en-US" smtClean="0"/>
              <a:t>‹#›</a:t>
            </a:fld>
            <a:endParaRPr lang="en-US"/>
          </a:p>
        </p:txBody>
      </p:sp>
    </p:spTree>
    <p:extLst>
      <p:ext uri="{BB962C8B-B14F-4D97-AF65-F5344CB8AC3E}">
        <p14:creationId xmlns:p14="http://schemas.microsoft.com/office/powerpoint/2010/main" val="4072155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9D35CF-6F9F-1018-5057-80369D610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04DBE8-B3FF-55EA-9D85-157A2B3C66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4DE21B-E8FE-CE6E-CC38-2615A72A56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9A3D8-B93D-49FB-8EC2-AAE4F1BE41B1}" type="datetimeFigureOut">
              <a:rPr lang="en-US" smtClean="0"/>
              <a:t>10/31/2025</a:t>
            </a:fld>
            <a:endParaRPr lang="en-US"/>
          </a:p>
        </p:txBody>
      </p:sp>
      <p:sp>
        <p:nvSpPr>
          <p:cNvPr id="5" name="Footer Placeholder 4">
            <a:extLst>
              <a:ext uri="{FF2B5EF4-FFF2-40B4-BE49-F238E27FC236}">
                <a16:creationId xmlns:a16="http://schemas.microsoft.com/office/drawing/2014/main" id="{A8C0C05C-19B8-B930-AA6A-359031C5E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C7F942-8280-D162-995E-DD70435A48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945D4-5704-42FF-8811-6C3942218BFE}" type="slidenum">
              <a:rPr lang="en-US" smtClean="0"/>
              <a:t>‹#›</a:t>
            </a:fld>
            <a:endParaRPr lang="en-US"/>
          </a:p>
        </p:txBody>
      </p:sp>
    </p:spTree>
    <p:extLst>
      <p:ext uri="{BB962C8B-B14F-4D97-AF65-F5344CB8AC3E}">
        <p14:creationId xmlns:p14="http://schemas.microsoft.com/office/powerpoint/2010/main" val="4029452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4B48B-EC9C-92D4-1C98-646C14C8D266}"/>
              </a:ext>
            </a:extLst>
          </p:cNvPr>
          <p:cNvSpPr>
            <a:spLocks noGrp="1"/>
          </p:cNvSpPr>
          <p:nvPr>
            <p:ph type="ctrTitle"/>
          </p:nvPr>
        </p:nvSpPr>
        <p:spPr>
          <a:xfrm>
            <a:off x="1524000" y="3429000"/>
            <a:ext cx="9144000" cy="1309400"/>
          </a:xfrm>
        </p:spPr>
        <p:txBody>
          <a:bodyPr anchor="t" anchorCtr="1">
            <a:normAutofit/>
          </a:bodyPr>
          <a:lstStyle/>
          <a:p>
            <a:r>
              <a:rPr lang="en-US" sz="1800" b="1" i="1" dirty="0">
                <a:solidFill>
                  <a:srgbClr val="2F5597"/>
                </a:solidFill>
                <a:latin typeface="arial" pitchFamily="34"/>
              </a:rPr>
              <a:t>Machine Learning-Based Analysis of Celestial Objects Using the SDSS17 Dataset</a:t>
            </a:r>
            <a:endParaRPr lang="en-US" sz="1800" b="1" i="1" dirty="0">
              <a:solidFill>
                <a:srgbClr val="2F5597"/>
              </a:solidFill>
              <a:latin typeface="arial" pitchFamily="34"/>
              <a:ea typeface="+mn-ea"/>
              <a:cs typeface="+mn-cs"/>
            </a:endParaRPr>
          </a:p>
        </p:txBody>
      </p:sp>
      <p:sp>
        <p:nvSpPr>
          <p:cNvPr id="3" name="Subtitle 2">
            <a:extLst>
              <a:ext uri="{FF2B5EF4-FFF2-40B4-BE49-F238E27FC236}">
                <a16:creationId xmlns:a16="http://schemas.microsoft.com/office/drawing/2014/main" id="{93144BCA-D6F5-3BBE-BECC-E49F281BE5A3}"/>
              </a:ext>
            </a:extLst>
          </p:cNvPr>
          <p:cNvSpPr>
            <a:spLocks noGrp="1"/>
          </p:cNvSpPr>
          <p:nvPr>
            <p:ph type="subTitle" idx="1"/>
          </p:nvPr>
        </p:nvSpPr>
        <p:spPr>
          <a:xfrm>
            <a:off x="1524000" y="4907756"/>
            <a:ext cx="9144000" cy="1655762"/>
          </a:xfrm>
        </p:spPr>
        <p:txBody>
          <a:bodyPr>
            <a:normAutofit/>
          </a:bodyPr>
          <a:lstStyle/>
          <a:p>
            <a:r>
              <a:rPr lang="en-US" sz="1800" b="1" i="1" dirty="0">
                <a:solidFill>
                  <a:srgbClr val="2F5597"/>
                </a:solidFill>
                <a:latin typeface="arial" pitchFamily="34"/>
              </a:rPr>
              <a:t>Florin Octavian ROBU</a:t>
            </a:r>
          </a:p>
          <a:p>
            <a:r>
              <a:rPr lang="en-US" sz="1800" b="1" i="1" dirty="0">
                <a:solidFill>
                  <a:srgbClr val="2F5597"/>
                </a:solidFill>
                <a:latin typeface="arial" pitchFamily="34"/>
              </a:rPr>
              <a:t>co-author </a:t>
            </a:r>
            <a:r>
              <a:rPr lang="ro-RO" sz="1800" b="1" i="1" dirty="0">
                <a:solidFill>
                  <a:srgbClr val="2F5597"/>
                </a:solidFill>
                <a:latin typeface="arial" pitchFamily="34"/>
              </a:rPr>
              <a:t>professor </a:t>
            </a:r>
            <a:r>
              <a:rPr lang="en-US" sz="1800" b="1" i="1" dirty="0">
                <a:solidFill>
                  <a:srgbClr val="2F5597"/>
                </a:solidFill>
                <a:latin typeface="arial" pitchFamily="34"/>
              </a:rPr>
              <a:t>Dan </a:t>
            </a:r>
            <a:r>
              <a:rPr lang="en-US" sz="1800" b="1" i="1" dirty="0" smtClean="0">
                <a:solidFill>
                  <a:srgbClr val="2F5597"/>
                </a:solidFill>
                <a:latin typeface="arial" pitchFamily="34"/>
              </a:rPr>
              <a:t>MUNTEANU</a:t>
            </a:r>
          </a:p>
          <a:p>
            <a:r>
              <a:rPr lang="en-US" sz="1800" b="1" i="1" dirty="0">
                <a:solidFill>
                  <a:srgbClr val="2F5597"/>
                </a:solidFill>
                <a:latin typeface="arial" pitchFamily="34"/>
              </a:rPr>
              <a:t>Faculty of Automation, Computers, Electrical Engineering and Electronics</a:t>
            </a:r>
          </a:p>
          <a:p>
            <a:r>
              <a:rPr lang="en-US" sz="1800" b="1" i="1" dirty="0" smtClean="0">
                <a:solidFill>
                  <a:srgbClr val="2F5597"/>
                </a:solidFill>
                <a:latin typeface="arial" pitchFamily="34"/>
              </a:rPr>
              <a:t>Dun</a:t>
            </a:r>
            <a:r>
              <a:rPr lang="ro-RO" sz="1800" b="1" i="1" dirty="0">
                <a:solidFill>
                  <a:srgbClr val="2F5597"/>
                </a:solidFill>
                <a:latin typeface="arial" pitchFamily="34"/>
              </a:rPr>
              <a:t>ă</a:t>
            </a:r>
            <a:r>
              <a:rPr lang="en-US" sz="1800" b="1" i="1" dirty="0">
                <a:solidFill>
                  <a:srgbClr val="2F5597"/>
                </a:solidFill>
                <a:latin typeface="arial" pitchFamily="34"/>
              </a:rPr>
              <a:t>rea de Jos University of Gala</a:t>
            </a:r>
            <a:r>
              <a:rPr lang="ro-RO" sz="1800" b="1" i="1" dirty="0">
                <a:solidFill>
                  <a:srgbClr val="2F5597"/>
                </a:solidFill>
                <a:latin typeface="arial" pitchFamily="34"/>
              </a:rPr>
              <a:t>ț</a:t>
            </a:r>
            <a:r>
              <a:rPr lang="en-US" sz="1800" b="1" i="1" dirty="0" err="1">
                <a:solidFill>
                  <a:srgbClr val="2F5597"/>
                </a:solidFill>
                <a:latin typeface="arial" pitchFamily="34"/>
              </a:rPr>
              <a:t>i</a:t>
            </a:r>
            <a:r>
              <a:rPr lang="en-US" sz="1800" b="1" i="1" dirty="0">
                <a:solidFill>
                  <a:srgbClr val="2F5597"/>
                </a:solidFill>
                <a:latin typeface="arial" pitchFamily="34"/>
              </a:rPr>
              <a:t>, Romania — October 2025</a:t>
            </a:r>
          </a:p>
          <a:p>
            <a:endParaRPr lang="en-US" sz="1800" b="1" i="1" dirty="0">
              <a:solidFill>
                <a:srgbClr val="2F5597"/>
              </a:solidFill>
              <a:latin typeface="arial" pitchFamily="34"/>
            </a:endParaRPr>
          </a:p>
        </p:txBody>
      </p:sp>
    </p:spTree>
    <p:extLst>
      <p:ext uri="{BB962C8B-B14F-4D97-AF65-F5344CB8AC3E}">
        <p14:creationId xmlns:p14="http://schemas.microsoft.com/office/powerpoint/2010/main" val="2379891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What is this study about?</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dirty="0"/>
              <a:t>This study is about using machine learning on the </a:t>
            </a:r>
            <a:r>
              <a:rPr lang="en-US" b="1" dirty="0"/>
              <a:t>Sloan Digital Sky </a:t>
            </a:r>
            <a:r>
              <a:rPr lang="en-US" b="1" dirty="0" smtClean="0"/>
              <a:t>Survey </a:t>
            </a:r>
            <a:r>
              <a:rPr lang="en-US" dirty="0" smtClean="0"/>
              <a:t>(SDSS) </a:t>
            </a:r>
            <a:r>
              <a:rPr lang="en-US" dirty="0"/>
              <a:t>Data </a:t>
            </a:r>
            <a:r>
              <a:rPr lang="en-US" dirty="0" smtClean="0"/>
              <a:t>Release (DR) 17 </a:t>
            </a:r>
            <a:r>
              <a:rPr lang="en-US" dirty="0"/>
              <a:t>dataset</a:t>
            </a:r>
            <a:r>
              <a:rPr lang="en-US" dirty="0" smtClean="0"/>
              <a:t>.</a:t>
            </a:r>
          </a:p>
          <a:p>
            <a:pPr algn="just"/>
            <a:r>
              <a:rPr lang="en-US" dirty="0" smtClean="0"/>
              <a:t>We </a:t>
            </a:r>
            <a:r>
              <a:rPr lang="en-US" dirty="0"/>
              <a:t>will </a:t>
            </a:r>
            <a:r>
              <a:rPr lang="en-US" b="1" dirty="0"/>
              <a:t>classify, predict, and group </a:t>
            </a:r>
            <a:r>
              <a:rPr lang="en-US" dirty="0"/>
              <a:t>stars, galaxies, and quasars. </a:t>
            </a:r>
            <a:endParaRPr lang="en-US" dirty="0" smtClean="0"/>
          </a:p>
          <a:p>
            <a:pPr algn="just"/>
            <a:r>
              <a:rPr lang="en-US" dirty="0" smtClean="0"/>
              <a:t>We </a:t>
            </a:r>
            <a:r>
              <a:rPr lang="en-US" dirty="0"/>
              <a:t>use </a:t>
            </a:r>
            <a:r>
              <a:rPr lang="en-US" b="1" dirty="0"/>
              <a:t>colors (photometric), redshift, and position data</a:t>
            </a:r>
            <a:r>
              <a:rPr lang="en-US" dirty="0"/>
              <a:t>. We use </a:t>
            </a:r>
            <a:r>
              <a:rPr lang="en-US" b="1" dirty="0"/>
              <a:t>Python</a:t>
            </a:r>
            <a:r>
              <a:rPr lang="en-US" dirty="0"/>
              <a:t> and tools like </a:t>
            </a:r>
            <a:r>
              <a:rPr lang="en-US" b="1" dirty="0" err="1"/>
              <a:t>scikit</a:t>
            </a:r>
            <a:r>
              <a:rPr lang="en-US" b="1" dirty="0"/>
              <a:t>-learn</a:t>
            </a:r>
            <a:r>
              <a:rPr lang="en-US" dirty="0"/>
              <a:t>, </a:t>
            </a:r>
            <a:r>
              <a:rPr lang="en-US" b="1" dirty="0" err="1"/>
              <a:t>LightGBM</a:t>
            </a:r>
            <a:r>
              <a:rPr lang="en-US" dirty="0"/>
              <a:t>, and </a:t>
            </a:r>
            <a:r>
              <a:rPr lang="en-US" b="1" dirty="0" err="1"/>
              <a:t>XGBoost</a:t>
            </a:r>
            <a:r>
              <a:rPr lang="en-US" dirty="0"/>
              <a:t>. </a:t>
            </a:r>
            <a:endParaRPr lang="en-US" dirty="0" smtClean="0"/>
          </a:p>
          <a:p>
            <a:pPr algn="just"/>
            <a:r>
              <a:rPr lang="en-US" dirty="0"/>
              <a:t>We use </a:t>
            </a:r>
            <a:r>
              <a:rPr lang="en-US" b="1" dirty="0"/>
              <a:t>Logistic Regression, k-Nearest Neighbors, Random Forest</a:t>
            </a:r>
            <a:r>
              <a:rPr lang="en-US" dirty="0"/>
              <a:t>, and </a:t>
            </a:r>
            <a:r>
              <a:rPr lang="en-US" b="1" dirty="0" err="1"/>
              <a:t>XGBoost</a:t>
            </a:r>
            <a:r>
              <a:rPr lang="en-US" dirty="0"/>
              <a:t> for classification. We use </a:t>
            </a:r>
            <a:r>
              <a:rPr lang="en-US" b="1" dirty="0"/>
              <a:t>Multiple Linear Regression, Polynomial Regression, </a:t>
            </a:r>
            <a:r>
              <a:rPr lang="en-US" b="1" dirty="0" err="1"/>
              <a:t>LightGBM</a:t>
            </a:r>
            <a:r>
              <a:rPr lang="en-US" dirty="0"/>
              <a:t> for regression. We use </a:t>
            </a:r>
            <a:r>
              <a:rPr lang="en-US" b="1" dirty="0"/>
              <a:t>K-means</a:t>
            </a:r>
            <a:r>
              <a:rPr lang="en-US" dirty="0"/>
              <a:t> and </a:t>
            </a:r>
            <a:r>
              <a:rPr lang="en-US" b="1" dirty="0"/>
              <a:t>DBSCAN</a:t>
            </a:r>
            <a:r>
              <a:rPr lang="en-US" dirty="0"/>
              <a:t> for clustering.</a:t>
            </a:r>
          </a:p>
        </p:txBody>
      </p:sp>
    </p:spTree>
    <p:extLst>
      <p:ext uri="{BB962C8B-B14F-4D97-AF65-F5344CB8AC3E}">
        <p14:creationId xmlns:p14="http://schemas.microsoft.com/office/powerpoint/2010/main" val="1432912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Introduction – SDSS </a:t>
            </a:r>
            <a:r>
              <a:rPr lang="en-US" b="1" dirty="0">
                <a:solidFill>
                  <a:schemeClr val="accent5">
                    <a:lumMod val="75000"/>
                  </a:schemeClr>
                </a:solidFill>
              </a:rPr>
              <a:t>Project</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The </a:t>
            </a:r>
            <a:r>
              <a:rPr lang="en-US" b="1" dirty="0"/>
              <a:t>Sloan Digital Sky Survey is a big project </a:t>
            </a:r>
            <a:r>
              <a:rPr lang="en-US" dirty="0"/>
              <a:t>in modern astronomy. It is one of the largest projects to map the universe. It has made the most detailed 3D map of the universe. This map shows the large structure of the universe with voids and filaments. The SDSS data help test the standard cosmological model. It shows dark matter and dark energy are important</a:t>
            </a:r>
            <a:r>
              <a:rPr lang="en-US" dirty="0" smtClean="0"/>
              <a:t>.</a:t>
            </a:r>
          </a:p>
          <a:p>
            <a:pPr algn="just"/>
            <a:r>
              <a:rPr lang="en-US" dirty="0"/>
              <a:t>It combines old astronomy methods with machine learning. It observes 2000 square degrees of sky each night and finds millions of objects.</a:t>
            </a:r>
          </a:p>
        </p:txBody>
      </p:sp>
    </p:spTree>
    <p:extLst>
      <p:ext uri="{BB962C8B-B14F-4D97-AF65-F5344CB8AC3E}">
        <p14:creationId xmlns:p14="http://schemas.microsoft.com/office/powerpoint/2010/main" val="3817149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What are Square Degrees? </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b="1" dirty="0"/>
              <a:t>Square degrees measure the sky</a:t>
            </a:r>
            <a:r>
              <a:rPr lang="en-US" dirty="0"/>
              <a:t>. The whole sky has 41,253 square degrees. </a:t>
            </a:r>
            <a:endParaRPr lang="en-US" dirty="0" smtClean="0"/>
          </a:p>
          <a:p>
            <a:pPr algn="just"/>
            <a:r>
              <a:rPr lang="en-US" dirty="0" smtClean="0"/>
              <a:t>One </a:t>
            </a:r>
            <a:r>
              <a:rPr lang="en-US" dirty="0"/>
              <a:t>square degree is about the size of your thumb at arm’s length. </a:t>
            </a:r>
            <a:endParaRPr lang="en-US" dirty="0" smtClean="0"/>
          </a:p>
          <a:p>
            <a:pPr algn="just"/>
            <a:r>
              <a:rPr lang="en-US" dirty="0" smtClean="0"/>
              <a:t>SDSS looks at 2000 square degrees each night, finding objects in the range of millions. This helps map the sky quickly. It shows how big the observations are. </a:t>
            </a:r>
          </a:p>
          <a:p>
            <a:pPr algn="just"/>
            <a:r>
              <a:rPr lang="en-US" dirty="0" smtClean="0"/>
              <a:t>However</a:t>
            </a:r>
            <a:r>
              <a:rPr lang="en-US" dirty="0"/>
              <a:t>, the project takes years (started 2000, SDSS-V ends 2025) because observations are limited by weather, seasons, equipment maintenance, and the need to target specific, small regions of the sky multiple times</a:t>
            </a:r>
            <a:r>
              <a:rPr lang="en-US" dirty="0" smtClean="0"/>
              <a:t>. </a:t>
            </a:r>
          </a:p>
        </p:txBody>
      </p:sp>
    </p:spTree>
    <p:extLst>
      <p:ext uri="{BB962C8B-B14F-4D97-AF65-F5344CB8AC3E}">
        <p14:creationId xmlns:p14="http://schemas.microsoft.com/office/powerpoint/2010/main" val="116957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SDSS Data Collection and Labeling</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fontScale="92500" lnSpcReduction="10000"/>
          </a:bodyPr>
          <a:lstStyle/>
          <a:p>
            <a:pPr algn="just"/>
            <a:r>
              <a:rPr lang="en-US" dirty="0"/>
              <a:t>SDSS publishes datasets in Data Releases. It started with DR1 and the latest is DR19 in July 2025</a:t>
            </a:r>
            <a:r>
              <a:rPr lang="en-US" dirty="0" smtClean="0"/>
              <a:t>. </a:t>
            </a:r>
          </a:p>
          <a:p>
            <a:pPr algn="just"/>
            <a:r>
              <a:rPr lang="en-US" dirty="0" smtClean="0"/>
              <a:t>SDSS </a:t>
            </a:r>
            <a:r>
              <a:rPr lang="en-US" dirty="0"/>
              <a:t>has two data types: </a:t>
            </a:r>
            <a:r>
              <a:rPr lang="en-US" b="1" dirty="0"/>
              <a:t>Photometric and Spectroscopic</a:t>
            </a:r>
            <a:r>
              <a:rPr lang="en-US" dirty="0"/>
              <a:t>. </a:t>
            </a:r>
            <a:endParaRPr lang="en-US" dirty="0" smtClean="0"/>
          </a:p>
          <a:p>
            <a:pPr algn="just"/>
            <a:r>
              <a:rPr lang="en-US" dirty="0" smtClean="0"/>
              <a:t>Photometric </a:t>
            </a:r>
            <a:r>
              <a:rPr lang="en-US" dirty="0"/>
              <a:t>data covers </a:t>
            </a:r>
            <a:r>
              <a:rPr lang="en-US" b="1" dirty="0"/>
              <a:t>470 million objects</a:t>
            </a:r>
            <a:r>
              <a:rPr lang="en-US" dirty="0"/>
              <a:t> with position and brightness in five color </a:t>
            </a:r>
            <a:r>
              <a:rPr lang="en-US" dirty="0" smtClean="0"/>
              <a:t>bands: u</a:t>
            </a:r>
            <a:r>
              <a:rPr lang="en-US" dirty="0"/>
              <a:t>, g, r, </a:t>
            </a:r>
            <a:r>
              <a:rPr lang="en-US" dirty="0" err="1"/>
              <a:t>i</a:t>
            </a:r>
            <a:r>
              <a:rPr lang="en-US" dirty="0"/>
              <a:t>, </a:t>
            </a:r>
            <a:r>
              <a:rPr lang="en-US" dirty="0" smtClean="0"/>
              <a:t>z (u </a:t>
            </a:r>
            <a:r>
              <a:rPr lang="en-US" dirty="0"/>
              <a:t>– 'ultraviolet', g – 'green', r – 'red', </a:t>
            </a:r>
            <a:r>
              <a:rPr lang="en-US" dirty="0" err="1"/>
              <a:t>i</a:t>
            </a:r>
            <a:r>
              <a:rPr lang="en-US" dirty="0"/>
              <a:t> – 'near-infrared', and z – </a:t>
            </a:r>
            <a:r>
              <a:rPr lang="en-US" dirty="0" smtClean="0"/>
              <a:t>'infrared‘). </a:t>
            </a:r>
            <a:r>
              <a:rPr lang="en-US" dirty="0"/>
              <a:t>This helps with initial classifications. </a:t>
            </a:r>
            <a:endParaRPr lang="en-US" dirty="0" smtClean="0"/>
          </a:p>
          <a:p>
            <a:pPr algn="just"/>
            <a:r>
              <a:rPr lang="en-US" dirty="0" smtClean="0"/>
              <a:t>Spectroscopic </a:t>
            </a:r>
            <a:r>
              <a:rPr lang="en-US" dirty="0"/>
              <a:t>data, for </a:t>
            </a:r>
            <a:r>
              <a:rPr lang="en-US" b="1" dirty="0"/>
              <a:t>4.5 million objects</a:t>
            </a:r>
            <a:r>
              <a:rPr lang="en-US" dirty="0"/>
              <a:t>, gives precise labels and redshift</a:t>
            </a:r>
            <a:r>
              <a:rPr lang="en-US" dirty="0" smtClean="0"/>
              <a:t>.</a:t>
            </a:r>
          </a:p>
          <a:p>
            <a:pPr algn="just"/>
            <a:r>
              <a:rPr lang="en-US" dirty="0"/>
              <a:t>The success of SDSS comes from new tools and </a:t>
            </a:r>
            <a:r>
              <a:rPr lang="en-US" b="1" dirty="0"/>
              <a:t>automated software</a:t>
            </a:r>
            <a:r>
              <a:rPr lang="en-US" dirty="0"/>
              <a:t>. It uses public </a:t>
            </a:r>
            <a:r>
              <a:rPr lang="en-US" b="1" dirty="0"/>
              <a:t>classification algorithms</a:t>
            </a:r>
            <a:r>
              <a:rPr lang="en-US" dirty="0"/>
              <a:t>. These algorithms mix traditional astrophysics with machine learning</a:t>
            </a:r>
            <a:r>
              <a:rPr lang="en-US" dirty="0" smtClean="0"/>
              <a:t>.</a:t>
            </a:r>
          </a:p>
        </p:txBody>
      </p:sp>
    </p:spTree>
    <p:extLst>
      <p:ext uri="{BB962C8B-B14F-4D97-AF65-F5344CB8AC3E}">
        <p14:creationId xmlns:p14="http://schemas.microsoft.com/office/powerpoint/2010/main" val="120618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Understanding </a:t>
            </a:r>
            <a:r>
              <a:rPr lang="en-US" b="1" dirty="0" err="1">
                <a:solidFill>
                  <a:schemeClr val="accent5">
                    <a:lumMod val="75000"/>
                  </a:schemeClr>
                </a:solidFill>
              </a:rPr>
              <a:t>PhotoZ</a:t>
            </a:r>
            <a:r>
              <a:rPr lang="en-US" b="1" dirty="0">
                <a:solidFill>
                  <a:schemeClr val="accent5">
                    <a:lumMod val="75000"/>
                  </a:schemeClr>
                </a:solidFill>
              </a:rPr>
              <a:t> and </a:t>
            </a:r>
            <a:r>
              <a:rPr lang="en-US" b="1" dirty="0" err="1">
                <a:solidFill>
                  <a:schemeClr val="accent5">
                    <a:lumMod val="75000"/>
                  </a:schemeClr>
                </a:solidFill>
              </a:rPr>
              <a:t>SPoT</a:t>
            </a:r>
            <a:r>
              <a:rPr lang="en-US" b="1" dirty="0">
                <a:solidFill>
                  <a:schemeClr val="accent5">
                    <a:lumMod val="75000"/>
                  </a:schemeClr>
                </a:solidFill>
              </a:rPr>
              <a:t> Algorithms </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b="1" dirty="0" err="1"/>
              <a:t>PhotoZ</a:t>
            </a:r>
            <a:r>
              <a:rPr lang="en-US" dirty="0"/>
              <a:t> estimates redshift using brightness from five color bands. It uses color differences to give rough labels for millions of objects. </a:t>
            </a:r>
            <a:endParaRPr lang="en-US" dirty="0" smtClean="0"/>
          </a:p>
          <a:p>
            <a:pPr algn="just"/>
            <a:r>
              <a:rPr lang="en-US" b="1" dirty="0" err="1" smtClean="0"/>
              <a:t>SPoT</a:t>
            </a:r>
            <a:r>
              <a:rPr lang="en-US" dirty="0" smtClean="0"/>
              <a:t> </a:t>
            </a:r>
            <a:r>
              <a:rPr lang="en-US" dirty="0"/>
              <a:t>(Spectroscopic Targeting) picks 1-5% of objects for detailed checks with a spectrograph. This gives exact redshift and object types</a:t>
            </a:r>
            <a:r>
              <a:rPr lang="en-US" dirty="0" smtClean="0"/>
              <a:t>.</a:t>
            </a:r>
          </a:p>
          <a:p>
            <a:pPr algn="just"/>
            <a:r>
              <a:rPr lang="en-US" dirty="0" err="1" smtClean="0"/>
              <a:t>PhotoZ</a:t>
            </a:r>
            <a:r>
              <a:rPr lang="en-US" dirty="0" smtClean="0"/>
              <a:t> </a:t>
            </a:r>
            <a:r>
              <a:rPr lang="en-US" dirty="0"/>
              <a:t>is fast; </a:t>
            </a:r>
            <a:r>
              <a:rPr lang="en-US" dirty="0" err="1"/>
              <a:t>SPoT</a:t>
            </a:r>
            <a:r>
              <a:rPr lang="en-US" dirty="0"/>
              <a:t> is more accurate</a:t>
            </a:r>
            <a:r>
              <a:rPr lang="en-US" dirty="0" smtClean="0"/>
              <a:t>.</a:t>
            </a:r>
          </a:p>
          <a:p>
            <a:pPr algn="just"/>
            <a:r>
              <a:rPr lang="en-US" dirty="0"/>
              <a:t>The accuracy of the </a:t>
            </a:r>
            <a:r>
              <a:rPr lang="en-US" dirty="0" err="1"/>
              <a:t>SPoT</a:t>
            </a:r>
            <a:r>
              <a:rPr lang="en-US" dirty="0"/>
              <a:t> algorithm is considered to be perfect (100% or extremely close) because it uses spectrometry</a:t>
            </a:r>
            <a:r>
              <a:rPr lang="en-US" dirty="0" smtClean="0"/>
              <a:t>.</a:t>
            </a:r>
          </a:p>
          <a:p>
            <a:pPr algn="just"/>
            <a:r>
              <a:rPr lang="en-US" dirty="0" err="1"/>
              <a:t>PhotoZ</a:t>
            </a:r>
            <a:r>
              <a:rPr lang="en-US" dirty="0"/>
              <a:t> is fast, but it uses simple non-ML methods that are much less accurate in prediction.</a:t>
            </a:r>
          </a:p>
        </p:txBody>
      </p:sp>
    </p:spTree>
    <p:extLst>
      <p:ext uri="{BB962C8B-B14F-4D97-AF65-F5344CB8AC3E}">
        <p14:creationId xmlns:p14="http://schemas.microsoft.com/office/powerpoint/2010/main" val="1623241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Detailed Role of </a:t>
            </a:r>
            <a:r>
              <a:rPr lang="en-US" b="1" dirty="0" err="1">
                <a:solidFill>
                  <a:schemeClr val="accent5">
                    <a:lumMod val="75000"/>
                  </a:schemeClr>
                </a:solidFill>
              </a:rPr>
              <a:t>SPoT</a:t>
            </a:r>
            <a:r>
              <a:rPr lang="en-US" b="1" dirty="0">
                <a:solidFill>
                  <a:schemeClr val="accent5">
                    <a:lumMod val="75000"/>
                  </a:schemeClr>
                </a:solidFill>
              </a:rPr>
              <a:t> in Spectral Analysis</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err="1"/>
              <a:t>SPoT</a:t>
            </a:r>
            <a:r>
              <a:rPr lang="en-US" dirty="0"/>
              <a:t> chooses objects for study based on </a:t>
            </a:r>
            <a:r>
              <a:rPr lang="en-US" dirty="0" err="1"/>
              <a:t>PhotoZ</a:t>
            </a:r>
            <a:r>
              <a:rPr lang="en-US" dirty="0"/>
              <a:t> or special interest. A spectrograph splits light into a spectrum, showing lines. The shift of these lines tells us redshift and object type (stars, galaxies, or quasars) with high accuracy. </a:t>
            </a:r>
            <a:endParaRPr lang="en-US" dirty="0" smtClean="0"/>
          </a:p>
          <a:p>
            <a:pPr algn="just"/>
            <a:r>
              <a:rPr lang="en-US" dirty="0" smtClean="0"/>
              <a:t>Only </a:t>
            </a:r>
            <a:r>
              <a:rPr lang="en-US" dirty="0"/>
              <a:t>4.5 million of 470 million objects get this detailed study.</a:t>
            </a:r>
          </a:p>
        </p:txBody>
      </p:sp>
    </p:spTree>
    <p:extLst>
      <p:ext uri="{BB962C8B-B14F-4D97-AF65-F5344CB8AC3E}">
        <p14:creationId xmlns:p14="http://schemas.microsoft.com/office/powerpoint/2010/main" val="62620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Redshift: A </a:t>
            </a:r>
            <a:r>
              <a:rPr lang="en-US" b="1" dirty="0" smtClean="0">
                <a:solidFill>
                  <a:schemeClr val="accent5">
                    <a:lumMod val="75000"/>
                  </a:schemeClr>
                </a:solidFill>
              </a:rPr>
              <a:t>scientific perspective </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Redshift happens when objects move away. Light shifts to redder colors. This is due to the Doppler effect and universe expansion</a:t>
            </a:r>
            <a:r>
              <a:rPr lang="en-US" dirty="0" smtClean="0"/>
              <a:t>.</a:t>
            </a:r>
          </a:p>
          <a:p>
            <a:pPr algn="just"/>
            <a:r>
              <a:rPr lang="en-US" b="1" dirty="0" smtClean="0"/>
              <a:t>Hubble</a:t>
            </a:r>
            <a:r>
              <a:rPr lang="en-US" dirty="0" smtClean="0"/>
              <a:t> </a:t>
            </a:r>
            <a:r>
              <a:rPr lang="en-US" dirty="0"/>
              <a:t>showed it means </a:t>
            </a:r>
            <a:r>
              <a:rPr lang="en-US" dirty="0" smtClean="0"/>
              <a:t>distance - more </a:t>
            </a:r>
            <a:r>
              <a:rPr lang="en-US" dirty="0"/>
              <a:t>redshift means farther away. We measure it with spectrometry. </a:t>
            </a:r>
            <a:endParaRPr lang="en-US" dirty="0" smtClean="0"/>
          </a:p>
          <a:p>
            <a:pPr algn="just"/>
            <a:r>
              <a:rPr lang="en-US" dirty="0" smtClean="0"/>
              <a:t>Stars </a:t>
            </a:r>
            <a:r>
              <a:rPr lang="en-US" dirty="0"/>
              <a:t>have low redshift; quasars have high redshift. This is important for our </a:t>
            </a:r>
            <a:r>
              <a:rPr lang="en-US" dirty="0" smtClean="0"/>
              <a:t>study</a:t>
            </a:r>
            <a:r>
              <a:rPr lang="en-US" dirty="0"/>
              <a:t>.</a:t>
            </a:r>
          </a:p>
        </p:txBody>
      </p:sp>
    </p:spTree>
    <p:extLst>
      <p:ext uri="{BB962C8B-B14F-4D97-AF65-F5344CB8AC3E}">
        <p14:creationId xmlns:p14="http://schemas.microsoft.com/office/powerpoint/2010/main" val="2600945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Spectrometry in Redshift </a:t>
            </a:r>
            <a:r>
              <a:rPr lang="en-US" b="1" dirty="0" smtClean="0">
                <a:solidFill>
                  <a:schemeClr val="accent5">
                    <a:lumMod val="75000"/>
                  </a:schemeClr>
                </a:solidFill>
              </a:rPr>
              <a:t>measurement</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b="1" dirty="0"/>
              <a:t>Spectrometry</a:t>
            </a:r>
            <a:r>
              <a:rPr lang="en-US" dirty="0"/>
              <a:t> is key to measuring redshift. </a:t>
            </a:r>
            <a:endParaRPr lang="en-US" dirty="0" smtClean="0"/>
          </a:p>
          <a:p>
            <a:pPr algn="just"/>
            <a:r>
              <a:rPr lang="en-US" dirty="0" smtClean="0"/>
              <a:t>A </a:t>
            </a:r>
            <a:r>
              <a:rPr lang="en-US" dirty="0"/>
              <a:t>spectrograph breaks light into a spectrum, showing lines. The shift of these lines helps us calculate redshift. </a:t>
            </a:r>
            <a:endParaRPr lang="en-US" dirty="0" smtClean="0"/>
          </a:p>
          <a:p>
            <a:pPr algn="just"/>
            <a:r>
              <a:rPr lang="en-US" dirty="0" smtClean="0"/>
              <a:t>SDSS </a:t>
            </a:r>
            <a:r>
              <a:rPr lang="en-US" dirty="0"/>
              <a:t>uses this for </a:t>
            </a:r>
            <a:r>
              <a:rPr lang="en-US" b="1" dirty="0"/>
              <a:t>4.5 million objects to get exact distances</a:t>
            </a:r>
            <a:r>
              <a:rPr lang="en-US" dirty="0"/>
              <a:t>. </a:t>
            </a:r>
            <a:r>
              <a:rPr lang="en-US" b="1" dirty="0"/>
              <a:t>Hubble’s law</a:t>
            </a:r>
            <a:r>
              <a:rPr lang="en-US" dirty="0"/>
              <a:t> turns these shifts into very large distances.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761" y="4486938"/>
            <a:ext cx="6710974" cy="1192243"/>
          </a:xfrm>
          <a:prstGeom prst="rect">
            <a:avLst/>
          </a:prstGeom>
        </p:spPr>
      </p:pic>
    </p:spTree>
    <p:extLst>
      <p:ext uri="{BB962C8B-B14F-4D97-AF65-F5344CB8AC3E}">
        <p14:creationId xmlns:p14="http://schemas.microsoft.com/office/powerpoint/2010/main" val="3907509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Discoveries from SDSS</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SDSS changed astronomy with big discoveries. It made a </a:t>
            </a:r>
            <a:r>
              <a:rPr lang="en-US" b="1" dirty="0"/>
              <a:t>3D map of the universe</a:t>
            </a:r>
            <a:r>
              <a:rPr lang="en-US" dirty="0"/>
              <a:t>, showing its structure. It found dark matter and dark energy. </a:t>
            </a:r>
            <a:endParaRPr lang="en-US" dirty="0" smtClean="0"/>
          </a:p>
          <a:p>
            <a:pPr algn="just"/>
            <a:r>
              <a:rPr lang="en-US" dirty="0" smtClean="0"/>
              <a:t>A </a:t>
            </a:r>
            <a:r>
              <a:rPr lang="en-US" dirty="0"/>
              <a:t>teacher from the Netherlands found </a:t>
            </a:r>
            <a:r>
              <a:rPr lang="en-US" dirty="0" err="1"/>
              <a:t>Hanny's</a:t>
            </a:r>
            <a:r>
              <a:rPr lang="en-US" dirty="0"/>
              <a:t> </a:t>
            </a:r>
            <a:r>
              <a:rPr lang="en-US" dirty="0" err="1"/>
              <a:t>Voorwerp</a:t>
            </a:r>
            <a:r>
              <a:rPr lang="en-US" dirty="0"/>
              <a:t>, a strange gas cloud. SDSS also mapped tidal streams from small galaxies. </a:t>
            </a:r>
            <a:endParaRPr lang="en-US" dirty="0" smtClean="0"/>
          </a:p>
          <a:p>
            <a:pPr algn="just"/>
            <a:r>
              <a:rPr lang="en-US" dirty="0" smtClean="0"/>
              <a:t>These </a:t>
            </a:r>
            <a:r>
              <a:rPr lang="en-US" dirty="0"/>
              <a:t>discoveries help us.</a:t>
            </a:r>
          </a:p>
        </p:txBody>
      </p:sp>
    </p:spTree>
    <p:extLst>
      <p:ext uri="{BB962C8B-B14F-4D97-AF65-F5344CB8AC3E}">
        <p14:creationId xmlns:p14="http://schemas.microsoft.com/office/powerpoint/2010/main" val="3564737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Why SDSS17 Data?</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The Stellar Classification Dataset SDSS17 is derived from SDSS Data Release 17</a:t>
            </a:r>
          </a:p>
          <a:p>
            <a:pPr algn="just"/>
            <a:r>
              <a:rPr lang="en-US" dirty="0" smtClean="0"/>
              <a:t>We </a:t>
            </a:r>
            <a:r>
              <a:rPr lang="en-US" b="1" dirty="0"/>
              <a:t>chose SDSS17</a:t>
            </a:r>
            <a:r>
              <a:rPr lang="en-US" dirty="0"/>
              <a:t> because it is </a:t>
            </a:r>
            <a:r>
              <a:rPr lang="en-US" b="1" dirty="0"/>
              <a:t>large and varied</a:t>
            </a:r>
            <a:r>
              <a:rPr lang="en-US" dirty="0"/>
              <a:t>. SDSS maps the sky with colors (photometric) and redshift (spectroscopic) data. It has multi-band data and distance signs. It is free and helps global research</a:t>
            </a:r>
            <a:r>
              <a:rPr lang="en-US" dirty="0" smtClean="0"/>
              <a:t>.</a:t>
            </a:r>
          </a:p>
          <a:p>
            <a:pPr algn="just"/>
            <a:r>
              <a:rPr lang="en-US" dirty="0" smtClean="0"/>
              <a:t>Our </a:t>
            </a:r>
            <a:r>
              <a:rPr lang="en-US" dirty="0"/>
              <a:t>sample of 100,000 objects is good for machine learning tests.</a:t>
            </a:r>
          </a:p>
        </p:txBody>
      </p:sp>
    </p:spTree>
    <p:extLst>
      <p:ext uri="{BB962C8B-B14F-4D97-AF65-F5344CB8AC3E}">
        <p14:creationId xmlns:p14="http://schemas.microsoft.com/office/powerpoint/2010/main" val="1460229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Tools we used</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We used </a:t>
            </a:r>
            <a:r>
              <a:rPr lang="en-US" b="1" dirty="0"/>
              <a:t>Python</a:t>
            </a:r>
            <a:r>
              <a:rPr lang="en-US" dirty="0"/>
              <a:t> (ver. 3.10.11) </a:t>
            </a:r>
            <a:r>
              <a:rPr lang="en-US" dirty="0" smtClean="0"/>
              <a:t>for </a:t>
            </a:r>
            <a:r>
              <a:rPr lang="en-US" dirty="0"/>
              <a:t>coding because it is easy. </a:t>
            </a:r>
            <a:r>
              <a:rPr lang="en-US" b="1" dirty="0" err="1"/>
              <a:t>Scikit</a:t>
            </a:r>
            <a:r>
              <a:rPr lang="en-US" b="1" dirty="0"/>
              <a:t>-learn</a:t>
            </a:r>
            <a:r>
              <a:rPr lang="en-US" dirty="0"/>
              <a:t> (ver. 1.4.2.) </a:t>
            </a:r>
            <a:r>
              <a:rPr lang="en-US" dirty="0" smtClean="0"/>
              <a:t>helped </a:t>
            </a:r>
            <a:r>
              <a:rPr lang="en-US" dirty="0"/>
              <a:t>with machine learning. </a:t>
            </a:r>
            <a:r>
              <a:rPr lang="en-US" b="1" dirty="0"/>
              <a:t>Pandas</a:t>
            </a:r>
            <a:r>
              <a:rPr lang="en-US" dirty="0"/>
              <a:t> (ver. 2.1.4) </a:t>
            </a:r>
            <a:r>
              <a:rPr lang="en-US" dirty="0" smtClean="0"/>
              <a:t>handled </a:t>
            </a:r>
            <a:r>
              <a:rPr lang="en-US" dirty="0"/>
              <a:t>data. </a:t>
            </a:r>
            <a:r>
              <a:rPr lang="en-US" b="1" dirty="0" err="1"/>
              <a:t>Matplotlib</a:t>
            </a:r>
            <a:r>
              <a:rPr lang="en-US" dirty="0"/>
              <a:t> (ver. 3.7.5) </a:t>
            </a:r>
            <a:r>
              <a:rPr lang="en-US" dirty="0" smtClean="0"/>
              <a:t>made </a:t>
            </a:r>
            <a:r>
              <a:rPr lang="en-US" dirty="0"/>
              <a:t>plots. </a:t>
            </a:r>
            <a:endParaRPr lang="en-US" dirty="0" smtClean="0"/>
          </a:p>
          <a:p>
            <a:pPr algn="just"/>
            <a:r>
              <a:rPr lang="en-US" dirty="0"/>
              <a:t>Also, </a:t>
            </a:r>
            <a:r>
              <a:rPr lang="en-US" dirty="0" smtClean="0"/>
              <a:t>we </a:t>
            </a:r>
            <a:r>
              <a:rPr lang="en-US" dirty="0"/>
              <a:t>used the </a:t>
            </a:r>
            <a:r>
              <a:rPr lang="en-US" b="1" dirty="0" err="1"/>
              <a:t>LightGBM</a:t>
            </a:r>
            <a:r>
              <a:rPr lang="en-US" dirty="0"/>
              <a:t> (Light Gradient Boosting Machine, ver. 4.6.0</a:t>
            </a:r>
            <a:r>
              <a:rPr lang="en-US" dirty="0" smtClean="0"/>
              <a:t>) </a:t>
            </a:r>
            <a:r>
              <a:rPr lang="en-US" dirty="0"/>
              <a:t>and </a:t>
            </a:r>
            <a:r>
              <a:rPr lang="en-US" b="1" dirty="0" err="1"/>
              <a:t>XGBoost</a:t>
            </a:r>
            <a:r>
              <a:rPr lang="en-US" dirty="0"/>
              <a:t> (Extreme Gradient Boosting, ver. 3.0.0) </a:t>
            </a:r>
            <a:r>
              <a:rPr lang="en-US" dirty="0" smtClean="0"/>
              <a:t> </a:t>
            </a:r>
            <a:r>
              <a:rPr lang="en-US" dirty="0"/>
              <a:t>libraries</a:t>
            </a:r>
            <a:r>
              <a:rPr lang="en-US" dirty="0" smtClean="0"/>
              <a:t>.</a:t>
            </a:r>
          </a:p>
        </p:txBody>
      </p:sp>
    </p:spTree>
    <p:extLst>
      <p:ext uri="{BB962C8B-B14F-4D97-AF65-F5344CB8AC3E}">
        <p14:creationId xmlns:p14="http://schemas.microsoft.com/office/powerpoint/2010/main" val="2182692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Detailed Dataset Features (SDSS17)</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dirty="0"/>
              <a:t>Our dataset </a:t>
            </a:r>
            <a:r>
              <a:rPr lang="en-US" b="1" dirty="0"/>
              <a:t>contains 100,000 celestial objects </a:t>
            </a:r>
            <a:r>
              <a:rPr lang="en-US" dirty="0"/>
              <a:t>and </a:t>
            </a:r>
            <a:r>
              <a:rPr lang="en-US" b="1" dirty="0"/>
              <a:t>17 total features</a:t>
            </a:r>
            <a:r>
              <a:rPr lang="en-US" dirty="0"/>
              <a:t>. These features include the target variable </a:t>
            </a:r>
            <a:r>
              <a:rPr lang="en-US" b="1" dirty="0"/>
              <a:t>'class' (STAR, GALAXY, QSO)</a:t>
            </a:r>
            <a:r>
              <a:rPr lang="en-US" dirty="0"/>
              <a:t>, the </a:t>
            </a:r>
            <a:r>
              <a:rPr lang="en-US" b="1" dirty="0"/>
              <a:t>photometric colors (u, g, r, </a:t>
            </a:r>
            <a:r>
              <a:rPr lang="en-US" b="1" dirty="0" err="1"/>
              <a:t>i</a:t>
            </a:r>
            <a:r>
              <a:rPr lang="en-US" b="1" dirty="0"/>
              <a:t>, z)</a:t>
            </a:r>
            <a:r>
              <a:rPr lang="en-US" dirty="0"/>
              <a:t>, </a:t>
            </a:r>
            <a:r>
              <a:rPr lang="en-US" b="1" dirty="0" smtClean="0"/>
              <a:t>redshift</a:t>
            </a:r>
            <a:r>
              <a:rPr lang="en-US" dirty="0" smtClean="0"/>
              <a:t>, </a:t>
            </a:r>
            <a:r>
              <a:rPr lang="en-US" b="1" dirty="0"/>
              <a:t>celestial coordinates (alpha, delta)</a:t>
            </a:r>
            <a:r>
              <a:rPr lang="en-US" dirty="0"/>
              <a:t>, and additional identifiers (</a:t>
            </a:r>
            <a:r>
              <a:rPr lang="en-US" dirty="0" smtClean="0"/>
              <a:t>like </a:t>
            </a:r>
            <a:r>
              <a:rPr lang="en-US" dirty="0" err="1" smtClean="0"/>
              <a:t>obj_ID</a:t>
            </a:r>
            <a:r>
              <a:rPr lang="en-US" dirty="0" smtClean="0"/>
              <a:t>, </a:t>
            </a:r>
            <a:r>
              <a:rPr lang="en-US" dirty="0" err="1" smtClean="0"/>
              <a:t>run_ID</a:t>
            </a:r>
            <a:r>
              <a:rPr lang="en-US" dirty="0"/>
              <a:t>, </a:t>
            </a:r>
            <a:r>
              <a:rPr lang="en-US" dirty="0" err="1"/>
              <a:t>rereun_ID</a:t>
            </a:r>
            <a:r>
              <a:rPr lang="en-US" dirty="0"/>
              <a:t>, </a:t>
            </a:r>
            <a:r>
              <a:rPr lang="en-US" dirty="0" err="1"/>
              <a:t>cam_col</a:t>
            </a:r>
            <a:r>
              <a:rPr lang="en-US" dirty="0"/>
              <a:t>, </a:t>
            </a:r>
            <a:r>
              <a:rPr lang="en-US" dirty="0" err="1" smtClean="0"/>
              <a:t>field_ID</a:t>
            </a:r>
            <a:r>
              <a:rPr lang="en-US" dirty="0"/>
              <a:t>, </a:t>
            </a:r>
            <a:r>
              <a:rPr lang="en-US" dirty="0" err="1" smtClean="0"/>
              <a:t>spec_obj_ID</a:t>
            </a:r>
            <a:r>
              <a:rPr lang="en-US" dirty="0"/>
              <a:t>, plate, MJD, </a:t>
            </a:r>
            <a:r>
              <a:rPr lang="en-US" dirty="0" err="1"/>
              <a:t>fiber_ID</a:t>
            </a:r>
            <a:r>
              <a:rPr lang="en-US" dirty="0" smtClean="0"/>
              <a:t>).</a:t>
            </a:r>
          </a:p>
        </p:txBody>
      </p:sp>
      <p:graphicFrame>
        <p:nvGraphicFramePr>
          <p:cNvPr id="4" name="Table 3"/>
          <p:cNvGraphicFramePr>
            <a:graphicFrameLocks noGrp="1"/>
          </p:cNvGraphicFramePr>
          <p:nvPr>
            <p:extLst>
              <p:ext uri="{D42A27DB-BD31-4B8C-83A1-F6EECF244321}">
                <p14:modId xmlns:p14="http://schemas.microsoft.com/office/powerpoint/2010/main" val="2777755248"/>
              </p:ext>
            </p:extLst>
          </p:nvPr>
        </p:nvGraphicFramePr>
        <p:xfrm>
          <a:off x="838200" y="4283641"/>
          <a:ext cx="10515600" cy="1745018"/>
        </p:xfrm>
        <a:graphic>
          <a:graphicData uri="http://schemas.openxmlformats.org/drawingml/2006/table">
            <a:tbl>
              <a:tblPr/>
              <a:tblGrid>
                <a:gridCol w="584200">
                  <a:extLst>
                    <a:ext uri="{9D8B030D-6E8A-4147-A177-3AD203B41FA5}">
                      <a16:colId xmlns:a16="http://schemas.microsoft.com/office/drawing/2014/main" val="1273532233"/>
                    </a:ext>
                  </a:extLst>
                </a:gridCol>
                <a:gridCol w="584200">
                  <a:extLst>
                    <a:ext uri="{9D8B030D-6E8A-4147-A177-3AD203B41FA5}">
                      <a16:colId xmlns:a16="http://schemas.microsoft.com/office/drawing/2014/main" val="4060285578"/>
                    </a:ext>
                  </a:extLst>
                </a:gridCol>
                <a:gridCol w="584200">
                  <a:extLst>
                    <a:ext uri="{9D8B030D-6E8A-4147-A177-3AD203B41FA5}">
                      <a16:colId xmlns:a16="http://schemas.microsoft.com/office/drawing/2014/main" val="249955046"/>
                    </a:ext>
                  </a:extLst>
                </a:gridCol>
                <a:gridCol w="584200">
                  <a:extLst>
                    <a:ext uri="{9D8B030D-6E8A-4147-A177-3AD203B41FA5}">
                      <a16:colId xmlns:a16="http://schemas.microsoft.com/office/drawing/2014/main" val="1414252669"/>
                    </a:ext>
                  </a:extLst>
                </a:gridCol>
                <a:gridCol w="584200">
                  <a:extLst>
                    <a:ext uri="{9D8B030D-6E8A-4147-A177-3AD203B41FA5}">
                      <a16:colId xmlns:a16="http://schemas.microsoft.com/office/drawing/2014/main" val="2439052447"/>
                    </a:ext>
                  </a:extLst>
                </a:gridCol>
                <a:gridCol w="584200">
                  <a:extLst>
                    <a:ext uri="{9D8B030D-6E8A-4147-A177-3AD203B41FA5}">
                      <a16:colId xmlns:a16="http://schemas.microsoft.com/office/drawing/2014/main" val="1912295208"/>
                    </a:ext>
                  </a:extLst>
                </a:gridCol>
                <a:gridCol w="584200">
                  <a:extLst>
                    <a:ext uri="{9D8B030D-6E8A-4147-A177-3AD203B41FA5}">
                      <a16:colId xmlns:a16="http://schemas.microsoft.com/office/drawing/2014/main" val="1244208080"/>
                    </a:ext>
                  </a:extLst>
                </a:gridCol>
                <a:gridCol w="584200">
                  <a:extLst>
                    <a:ext uri="{9D8B030D-6E8A-4147-A177-3AD203B41FA5}">
                      <a16:colId xmlns:a16="http://schemas.microsoft.com/office/drawing/2014/main" val="1729921288"/>
                    </a:ext>
                  </a:extLst>
                </a:gridCol>
                <a:gridCol w="584200">
                  <a:extLst>
                    <a:ext uri="{9D8B030D-6E8A-4147-A177-3AD203B41FA5}">
                      <a16:colId xmlns:a16="http://schemas.microsoft.com/office/drawing/2014/main" val="604022689"/>
                    </a:ext>
                  </a:extLst>
                </a:gridCol>
                <a:gridCol w="584200">
                  <a:extLst>
                    <a:ext uri="{9D8B030D-6E8A-4147-A177-3AD203B41FA5}">
                      <a16:colId xmlns:a16="http://schemas.microsoft.com/office/drawing/2014/main" val="1746370364"/>
                    </a:ext>
                  </a:extLst>
                </a:gridCol>
                <a:gridCol w="584200">
                  <a:extLst>
                    <a:ext uri="{9D8B030D-6E8A-4147-A177-3AD203B41FA5}">
                      <a16:colId xmlns:a16="http://schemas.microsoft.com/office/drawing/2014/main" val="1946650049"/>
                    </a:ext>
                  </a:extLst>
                </a:gridCol>
                <a:gridCol w="584200">
                  <a:extLst>
                    <a:ext uri="{9D8B030D-6E8A-4147-A177-3AD203B41FA5}">
                      <a16:colId xmlns:a16="http://schemas.microsoft.com/office/drawing/2014/main" val="3283196790"/>
                    </a:ext>
                  </a:extLst>
                </a:gridCol>
                <a:gridCol w="584200">
                  <a:extLst>
                    <a:ext uri="{9D8B030D-6E8A-4147-A177-3AD203B41FA5}">
                      <a16:colId xmlns:a16="http://schemas.microsoft.com/office/drawing/2014/main" val="1735391676"/>
                    </a:ext>
                  </a:extLst>
                </a:gridCol>
                <a:gridCol w="584200">
                  <a:extLst>
                    <a:ext uri="{9D8B030D-6E8A-4147-A177-3AD203B41FA5}">
                      <a16:colId xmlns:a16="http://schemas.microsoft.com/office/drawing/2014/main" val="4159958673"/>
                    </a:ext>
                  </a:extLst>
                </a:gridCol>
                <a:gridCol w="584200">
                  <a:extLst>
                    <a:ext uri="{9D8B030D-6E8A-4147-A177-3AD203B41FA5}">
                      <a16:colId xmlns:a16="http://schemas.microsoft.com/office/drawing/2014/main" val="2162576565"/>
                    </a:ext>
                  </a:extLst>
                </a:gridCol>
                <a:gridCol w="584200">
                  <a:extLst>
                    <a:ext uri="{9D8B030D-6E8A-4147-A177-3AD203B41FA5}">
                      <a16:colId xmlns:a16="http://schemas.microsoft.com/office/drawing/2014/main" val="1932906680"/>
                    </a:ext>
                  </a:extLst>
                </a:gridCol>
                <a:gridCol w="584200">
                  <a:extLst>
                    <a:ext uri="{9D8B030D-6E8A-4147-A177-3AD203B41FA5}">
                      <a16:colId xmlns:a16="http://schemas.microsoft.com/office/drawing/2014/main" val="4024915426"/>
                    </a:ext>
                  </a:extLst>
                </a:gridCol>
                <a:gridCol w="584200">
                  <a:extLst>
                    <a:ext uri="{9D8B030D-6E8A-4147-A177-3AD203B41FA5}">
                      <a16:colId xmlns:a16="http://schemas.microsoft.com/office/drawing/2014/main" val="1396098024"/>
                    </a:ext>
                  </a:extLst>
                </a:gridCol>
              </a:tblGrid>
              <a:tr h="260109">
                <a:tc>
                  <a:txBody>
                    <a:bodyPr/>
                    <a:lstStyle/>
                    <a:p>
                      <a:pPr algn="l"/>
                      <a:r>
                        <a:rPr lang="en-US" sz="800" b="1" dirty="0" err="1">
                          <a:effectLst/>
                          <a:latin typeface="Liberation Sans" panose="020B0604020202020204" pitchFamily="34" charset="0"/>
                        </a:rPr>
                        <a:t>obj_ID</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alpha</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delta</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u</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g</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r</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i</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z</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run_ID</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rerun_ID</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cam_col</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field_ID</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spec_obj_ID</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class</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redshift</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plate</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a:effectLst/>
                          <a:latin typeface="Liberation Sans" panose="020B0604020202020204" pitchFamily="34" charset="0"/>
                        </a:rPr>
                        <a:t>MJD</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b="1" dirty="0" err="1">
                          <a:effectLst/>
                          <a:latin typeface="Liberation Sans" panose="020B0604020202020204" pitchFamily="34" charset="0"/>
                        </a:rPr>
                        <a:t>fiber_ID</a:t>
                      </a:r>
                      <a:endParaRPr lang="en-US" sz="800" b="1" dirty="0">
                        <a:effectLst/>
                        <a:latin typeface="Liberation Sans" panose="020B0604020202020204" pitchFamily="34" charset="0"/>
                      </a:endParaRP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700232687"/>
                  </a:ext>
                </a:extLst>
              </a:tr>
              <a:tr h="483910">
                <a:tc>
                  <a:txBody>
                    <a:bodyPr/>
                    <a:lstStyle/>
                    <a:p>
                      <a:pPr algn="r"/>
                      <a:r>
                        <a:rPr lang="en-US" sz="800">
                          <a:effectLst/>
                          <a:latin typeface="Liberation Sans" panose="020B0604020202020204" pitchFamily="34" charset="0"/>
                        </a:rPr>
                        <a:t>1,23766096132774E+018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dirty="0">
                          <a:effectLst/>
                          <a:latin typeface="Liberation Sans" panose="020B0604020202020204" pitchFamily="34" charset="0"/>
                        </a:rPr>
                        <a:t>135.6891066036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dirty="0">
                          <a:effectLst/>
                          <a:latin typeface="Liberation Sans" panose="020B0604020202020204" pitchFamily="34" charset="0"/>
                        </a:rPr>
                        <a:t>32.4946318397087</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dirty="0">
                          <a:effectLst/>
                          <a:latin typeface="Liberation Sans" panose="020B0604020202020204" pitchFamily="34" charset="0"/>
                        </a:rPr>
                        <a:t>23.87882</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22.2753</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20.39501</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19.16573</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18.79371</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3606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301</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2</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79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6,54377736929518E+018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GALAXY</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0.6347936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5812</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56354</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171</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364191979"/>
                  </a:ext>
                </a:extLst>
              </a:tr>
              <a:tr h="483910">
                <a:tc>
                  <a:txBody>
                    <a:bodyPr/>
                    <a:lstStyle/>
                    <a:p>
                      <a:pPr algn="r"/>
                      <a:r>
                        <a:rPr lang="en-US" sz="800">
                          <a:effectLst/>
                          <a:latin typeface="Liberation Sans" panose="020B0604020202020204" pitchFamily="34" charset="0"/>
                        </a:rPr>
                        <a:t>1,23766487995115E+018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144.826100550256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31.2741848944939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dirty="0">
                          <a:effectLst/>
                          <a:latin typeface="Liberation Sans" panose="020B0604020202020204" pitchFamily="34" charset="0"/>
                        </a:rPr>
                        <a:t>24.77759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22.83188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22.58444</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21.16812</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21.61427</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4518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301</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5</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119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1,17601420367073E+019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GALAXY</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0.779136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10445</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58158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427</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96941918"/>
                  </a:ext>
                </a:extLst>
              </a:tr>
              <a:tr h="483910">
                <a:tc>
                  <a:txBody>
                    <a:bodyPr/>
                    <a:lstStyle/>
                    <a:p>
                      <a:pPr algn="r"/>
                      <a:r>
                        <a:rPr lang="en-US" sz="800">
                          <a:effectLst/>
                          <a:latin typeface="Liberation Sans" panose="020B0604020202020204" pitchFamily="34" charset="0"/>
                        </a:rPr>
                        <a:t>1,23766096133043E+018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142.188789562506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35.5824441819976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25.26307</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22.66389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20.60976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19.34857</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18.94827</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3606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301</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2</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120</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5,15220025602555E+018</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GALAXY</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a:r>
                        <a:rPr lang="en-US" sz="800">
                          <a:effectLst/>
                          <a:latin typeface="Liberation Sans" panose="020B0604020202020204" pitchFamily="34" charset="0"/>
                        </a:rPr>
                        <a:t>0.6441945</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4576</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a:effectLst/>
                          <a:latin typeface="Liberation Sans" panose="020B0604020202020204" pitchFamily="34" charset="0"/>
                        </a:rPr>
                        <a:t>55592</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r"/>
                      <a:r>
                        <a:rPr lang="en-US" sz="800" dirty="0">
                          <a:effectLst/>
                          <a:latin typeface="Liberation Sans" panose="020B0604020202020204" pitchFamily="34" charset="0"/>
                        </a:rPr>
                        <a:t>299</a:t>
                      </a:r>
                    </a:p>
                  </a:txBody>
                  <a:tcPr marL="49447" marR="49447" marT="24724" marB="24724" anchor="ctr">
                    <a:lnL>
                      <a:noFill/>
                    </a:lnL>
                    <a:lnR>
                      <a:noFill/>
                    </a:lnR>
                    <a:lnT>
                      <a:noFill/>
                    </a:lnT>
                    <a:lnB>
                      <a:noFill/>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807456601"/>
                  </a:ext>
                </a:extLst>
              </a:tr>
            </a:tbl>
          </a:graphicData>
        </a:graphic>
      </p:graphicFrame>
    </p:spTree>
    <p:extLst>
      <p:ext uri="{BB962C8B-B14F-4D97-AF65-F5344CB8AC3E}">
        <p14:creationId xmlns:p14="http://schemas.microsoft.com/office/powerpoint/2010/main" val="90522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Detailed Dataset Features (SDSS17)</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dirty="0"/>
              <a:t>We cleaned the data (removed noise) and kept important data like </a:t>
            </a:r>
            <a:r>
              <a:rPr lang="en-US" b="1" dirty="0"/>
              <a:t>colors (u, g, r, </a:t>
            </a:r>
            <a:r>
              <a:rPr lang="en-US" b="1" dirty="0" err="1"/>
              <a:t>i</a:t>
            </a:r>
            <a:r>
              <a:rPr lang="en-US" b="1" dirty="0"/>
              <a:t>, z), redshift, celestial coordinates (alpha, delta) and the target variable (class</a:t>
            </a:r>
            <a:r>
              <a:rPr lang="en-US" b="1" dirty="0" smtClean="0"/>
              <a:t>)</a:t>
            </a:r>
            <a:r>
              <a:rPr lang="en-US" dirty="0" smtClean="0"/>
              <a:t>.</a:t>
            </a:r>
          </a:p>
          <a:p>
            <a:pPr algn="just"/>
            <a:r>
              <a:rPr lang="en-US" dirty="0" smtClean="0"/>
              <a:t>An </a:t>
            </a:r>
            <a:r>
              <a:rPr lang="en-US" b="1" dirty="0"/>
              <a:t>imbalanced dataset </a:t>
            </a:r>
            <a:r>
              <a:rPr lang="en-US" dirty="0"/>
              <a:t>(uneven classes like STAR, GALAXY, QSO) can affect the accuracy of our models. To ensure the results are reliable, </a:t>
            </a:r>
            <a:r>
              <a:rPr lang="en-US" b="1" dirty="0"/>
              <a:t>we use stratification</a:t>
            </a:r>
            <a:r>
              <a:rPr lang="en-US" dirty="0"/>
              <a:t> when splitting the data. Stratification makes sure that the proportion of each class is maintained in both the training and testing sets</a:t>
            </a:r>
            <a:r>
              <a:rPr lang="en-US" dirty="0" smtClean="0"/>
              <a:t>.</a:t>
            </a:r>
            <a:r>
              <a:rPr lang="en-US" dirty="0"/>
              <a:t> </a:t>
            </a:r>
            <a:endParaRPr lang="en-US" dirty="0" smtClean="0"/>
          </a:p>
          <a:p>
            <a:pPr algn="just"/>
            <a:endParaRPr lang="en-US" dirty="0"/>
          </a:p>
        </p:txBody>
      </p:sp>
    </p:spTree>
    <p:extLst>
      <p:ext uri="{BB962C8B-B14F-4D97-AF65-F5344CB8AC3E}">
        <p14:creationId xmlns:p14="http://schemas.microsoft.com/office/powerpoint/2010/main" val="2925090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Why </a:t>
            </a:r>
            <a:r>
              <a:rPr lang="en-US" b="1" dirty="0" smtClean="0">
                <a:solidFill>
                  <a:schemeClr val="accent5">
                    <a:lumMod val="75000"/>
                  </a:schemeClr>
                </a:solidFill>
              </a:rPr>
              <a:t>we use </a:t>
            </a:r>
            <a:r>
              <a:rPr lang="en-US" b="1" dirty="0">
                <a:solidFill>
                  <a:schemeClr val="accent5">
                    <a:lumMod val="75000"/>
                  </a:schemeClr>
                </a:solidFill>
              </a:rPr>
              <a:t>ML on </a:t>
            </a:r>
            <a:r>
              <a:rPr lang="en-US" b="1" dirty="0" smtClean="0">
                <a:solidFill>
                  <a:schemeClr val="accent5">
                    <a:lumMod val="75000"/>
                  </a:schemeClr>
                </a:solidFill>
              </a:rPr>
              <a:t>already classified data</a:t>
            </a:r>
            <a:r>
              <a:rPr lang="en-US" b="1" dirty="0">
                <a:solidFill>
                  <a:schemeClr val="accent5">
                    <a:lumMod val="75000"/>
                  </a:schemeClr>
                </a:solidFill>
              </a:rPr>
              <a:t>? </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The </a:t>
            </a:r>
            <a:r>
              <a:rPr lang="en-US" b="1" dirty="0" err="1"/>
              <a:t>SPoT</a:t>
            </a:r>
            <a:r>
              <a:rPr lang="en-US" b="1" dirty="0"/>
              <a:t> method is very precise</a:t>
            </a:r>
            <a:r>
              <a:rPr lang="en-US" dirty="0"/>
              <a:t>, but it only classifies a </a:t>
            </a:r>
            <a:r>
              <a:rPr lang="en-US" b="1" dirty="0"/>
              <a:t>small fraction</a:t>
            </a:r>
            <a:r>
              <a:rPr lang="en-US" dirty="0"/>
              <a:t> (4.5M) of the sky. </a:t>
            </a:r>
            <a:endParaRPr lang="en-US" dirty="0" smtClean="0"/>
          </a:p>
          <a:p>
            <a:pPr algn="just"/>
            <a:r>
              <a:rPr lang="en-US" dirty="0" smtClean="0"/>
              <a:t>The </a:t>
            </a:r>
            <a:r>
              <a:rPr lang="en-US" b="1" dirty="0" err="1"/>
              <a:t>PhotoZ</a:t>
            </a:r>
            <a:r>
              <a:rPr lang="en-US" b="1" dirty="0"/>
              <a:t> method is fast</a:t>
            </a:r>
            <a:r>
              <a:rPr lang="en-US" dirty="0"/>
              <a:t>, providing a distance estimate (redshift) for all 470M objects, but it is </a:t>
            </a:r>
            <a:r>
              <a:rPr lang="en-US" b="1" dirty="0"/>
              <a:t>known to be inexact</a:t>
            </a:r>
            <a:r>
              <a:rPr lang="en-US" dirty="0"/>
              <a:t>. </a:t>
            </a:r>
            <a:endParaRPr lang="en-US" dirty="0" smtClean="0"/>
          </a:p>
          <a:p>
            <a:pPr algn="just"/>
            <a:r>
              <a:rPr lang="en-US" dirty="0" smtClean="0"/>
              <a:t>Our </a:t>
            </a:r>
            <a:r>
              <a:rPr lang="en-US" dirty="0"/>
              <a:t>goal is to </a:t>
            </a:r>
            <a:r>
              <a:rPr lang="en-US" b="1" dirty="0"/>
              <a:t>classify and predict distance</a:t>
            </a:r>
            <a:r>
              <a:rPr lang="en-US" dirty="0"/>
              <a:t> for the entire sky </a:t>
            </a:r>
            <a:r>
              <a:rPr lang="en-US" b="1" dirty="0"/>
              <a:t>quickly and with high accuracy</a:t>
            </a:r>
            <a:r>
              <a:rPr lang="en-US" dirty="0"/>
              <a:t>. Our </a:t>
            </a:r>
            <a:r>
              <a:rPr lang="en-US" b="1" dirty="0"/>
              <a:t>advanced ML model</a:t>
            </a:r>
            <a:r>
              <a:rPr lang="en-US" dirty="0"/>
              <a:t> provides the necessary solution to this problem.</a:t>
            </a:r>
            <a:endParaRPr lang="en-US" dirty="0" smtClean="0"/>
          </a:p>
        </p:txBody>
      </p:sp>
    </p:spTree>
    <p:extLst>
      <p:ext uri="{BB962C8B-B14F-4D97-AF65-F5344CB8AC3E}">
        <p14:creationId xmlns:p14="http://schemas.microsoft.com/office/powerpoint/2010/main" val="2616605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Experiments: Classification </a:t>
            </a:r>
            <a:r>
              <a:rPr lang="en-US" b="1" dirty="0" smtClean="0">
                <a:solidFill>
                  <a:schemeClr val="accent5">
                    <a:lumMod val="75000"/>
                  </a:schemeClr>
                </a:solidFill>
              </a:rPr>
              <a:t>summary</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a:xfrm>
            <a:off x="838200" y="1825625"/>
            <a:ext cx="10515600" cy="4351338"/>
          </a:xfrm>
        </p:spPr>
        <p:txBody>
          <a:bodyPr/>
          <a:lstStyle/>
          <a:p>
            <a:pPr algn="just"/>
            <a:r>
              <a:rPr lang="en-US" dirty="0"/>
              <a:t>We did tests to classify objects. We used four methods: </a:t>
            </a:r>
            <a:r>
              <a:rPr lang="en-US" b="1" dirty="0"/>
              <a:t>Logistic Regression, k-Nearest Neighbors, Random Forest, and </a:t>
            </a:r>
            <a:r>
              <a:rPr lang="en-US" b="1" dirty="0" err="1"/>
              <a:t>XGBoost</a:t>
            </a:r>
            <a:r>
              <a:rPr lang="en-US" dirty="0"/>
              <a:t>. </a:t>
            </a:r>
          </a:p>
          <a:p>
            <a:pPr algn="just"/>
            <a:r>
              <a:rPr lang="en-US" dirty="0"/>
              <a:t>We ran several tests with </a:t>
            </a:r>
            <a:r>
              <a:rPr lang="en-US" b="1" dirty="0"/>
              <a:t>different groups of features</a:t>
            </a:r>
            <a:r>
              <a:rPr lang="en-US" dirty="0"/>
              <a:t> </a:t>
            </a:r>
            <a:r>
              <a:rPr lang="en-US" dirty="0" smtClean="0"/>
              <a:t>and </a:t>
            </a:r>
            <a:r>
              <a:rPr lang="en-US" dirty="0"/>
              <a:t>finally with </a:t>
            </a:r>
            <a:r>
              <a:rPr lang="en-US" b="1" dirty="0"/>
              <a:t>all features</a:t>
            </a:r>
            <a:r>
              <a:rPr lang="en-US" dirty="0"/>
              <a:t>. We used </a:t>
            </a:r>
            <a:r>
              <a:rPr lang="en-US" b="1" dirty="0"/>
              <a:t>5-fold cross-validation</a:t>
            </a:r>
            <a:r>
              <a:rPr lang="en-US" dirty="0"/>
              <a:t> (K-Folding) to ensure our results were reliable.</a:t>
            </a:r>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2288473458"/>
              </p:ext>
            </p:extLst>
          </p:nvPr>
        </p:nvGraphicFramePr>
        <p:xfrm>
          <a:off x="838200" y="3942672"/>
          <a:ext cx="10515597" cy="2234293"/>
        </p:xfrm>
        <a:graphic>
          <a:graphicData uri="http://schemas.openxmlformats.org/drawingml/2006/table">
            <a:tbl>
              <a:tblPr firstRow="1" firstCol="1" lastRow="1" lastCol="1" bandRow="1" bandCol="1">
                <a:tableStyleId>{5C22544A-7EE6-4342-B048-85BDC9FD1C3A}</a:tableStyleId>
              </a:tblPr>
              <a:tblGrid>
                <a:gridCol w="1164828">
                  <a:extLst>
                    <a:ext uri="{9D8B030D-6E8A-4147-A177-3AD203B41FA5}">
                      <a16:colId xmlns:a16="http://schemas.microsoft.com/office/drawing/2014/main" val="4056044041"/>
                    </a:ext>
                  </a:extLst>
                </a:gridCol>
                <a:gridCol w="997831">
                  <a:extLst>
                    <a:ext uri="{9D8B030D-6E8A-4147-A177-3AD203B41FA5}">
                      <a16:colId xmlns:a16="http://schemas.microsoft.com/office/drawing/2014/main" val="2982822232"/>
                    </a:ext>
                  </a:extLst>
                </a:gridCol>
                <a:gridCol w="864025">
                  <a:extLst>
                    <a:ext uri="{9D8B030D-6E8A-4147-A177-3AD203B41FA5}">
                      <a16:colId xmlns:a16="http://schemas.microsoft.com/office/drawing/2014/main" val="138313643"/>
                    </a:ext>
                  </a:extLst>
                </a:gridCol>
                <a:gridCol w="997831">
                  <a:extLst>
                    <a:ext uri="{9D8B030D-6E8A-4147-A177-3AD203B41FA5}">
                      <a16:colId xmlns:a16="http://schemas.microsoft.com/office/drawing/2014/main" val="3776991047"/>
                    </a:ext>
                  </a:extLst>
                </a:gridCol>
                <a:gridCol w="1000942">
                  <a:extLst>
                    <a:ext uri="{9D8B030D-6E8A-4147-A177-3AD203B41FA5}">
                      <a16:colId xmlns:a16="http://schemas.microsoft.com/office/drawing/2014/main" val="1278131071"/>
                    </a:ext>
                  </a:extLst>
                </a:gridCol>
                <a:gridCol w="830833">
                  <a:extLst>
                    <a:ext uri="{9D8B030D-6E8A-4147-A177-3AD203B41FA5}">
                      <a16:colId xmlns:a16="http://schemas.microsoft.com/office/drawing/2014/main" val="2531218521"/>
                    </a:ext>
                  </a:extLst>
                </a:gridCol>
                <a:gridCol w="999905">
                  <a:extLst>
                    <a:ext uri="{9D8B030D-6E8A-4147-A177-3AD203B41FA5}">
                      <a16:colId xmlns:a16="http://schemas.microsoft.com/office/drawing/2014/main" val="418966759"/>
                    </a:ext>
                  </a:extLst>
                </a:gridCol>
                <a:gridCol w="829796">
                  <a:extLst>
                    <a:ext uri="{9D8B030D-6E8A-4147-A177-3AD203B41FA5}">
                      <a16:colId xmlns:a16="http://schemas.microsoft.com/office/drawing/2014/main" val="2109560501"/>
                    </a:ext>
                  </a:extLst>
                </a:gridCol>
                <a:gridCol w="999905">
                  <a:extLst>
                    <a:ext uri="{9D8B030D-6E8A-4147-A177-3AD203B41FA5}">
                      <a16:colId xmlns:a16="http://schemas.microsoft.com/office/drawing/2014/main" val="2491449165"/>
                    </a:ext>
                  </a:extLst>
                </a:gridCol>
                <a:gridCol w="830833">
                  <a:extLst>
                    <a:ext uri="{9D8B030D-6E8A-4147-A177-3AD203B41FA5}">
                      <a16:colId xmlns:a16="http://schemas.microsoft.com/office/drawing/2014/main" val="2944272273"/>
                    </a:ext>
                  </a:extLst>
                </a:gridCol>
                <a:gridCol w="998868">
                  <a:extLst>
                    <a:ext uri="{9D8B030D-6E8A-4147-A177-3AD203B41FA5}">
                      <a16:colId xmlns:a16="http://schemas.microsoft.com/office/drawing/2014/main" val="634138158"/>
                    </a:ext>
                  </a:extLst>
                </a:gridCol>
              </a:tblGrid>
              <a:tr h="250556">
                <a:tc>
                  <a:txBody>
                    <a:bodyPr/>
                    <a:lstStyle/>
                    <a:p>
                      <a:pPr algn="just">
                        <a:spcAft>
                          <a:spcPts val="0"/>
                        </a:spcAft>
                      </a:pPr>
                      <a:r>
                        <a:rPr lang="it-IT" sz="1400">
                          <a:solidFill>
                            <a:schemeClr val="tx1"/>
                          </a:solidFill>
                          <a:effectLst/>
                        </a:rPr>
                        <a:t>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gridSpan="4">
                  <a:txBody>
                    <a:bodyPr/>
                    <a:lstStyle/>
                    <a:p>
                      <a:pPr algn="ctr">
                        <a:spcAft>
                          <a:spcPts val="0"/>
                        </a:spcAft>
                      </a:pPr>
                      <a:r>
                        <a:rPr lang="it-IT" sz="1400" dirty="0">
                          <a:solidFill>
                            <a:schemeClr val="tx1"/>
                          </a:solidFill>
                          <a:effectLst/>
                        </a:rPr>
                        <a:t>spectral features (</a:t>
                      </a:r>
                      <a:r>
                        <a:rPr lang="en-US" sz="1400" dirty="0">
                          <a:solidFill>
                            <a:schemeClr val="tx1"/>
                          </a:solidFill>
                          <a:effectLst/>
                        </a:rPr>
                        <a:t>u, g, r, </a:t>
                      </a:r>
                      <a:r>
                        <a:rPr lang="en-US" sz="1400" dirty="0" err="1">
                          <a:solidFill>
                            <a:schemeClr val="tx1"/>
                          </a:solidFill>
                          <a:effectLst/>
                        </a:rPr>
                        <a:t>i</a:t>
                      </a:r>
                      <a:r>
                        <a:rPr lang="en-US" sz="1400" dirty="0">
                          <a:solidFill>
                            <a:schemeClr val="tx1"/>
                          </a:solidFill>
                          <a:effectLst/>
                        </a:rPr>
                        <a:t>, z</a:t>
                      </a:r>
                      <a:r>
                        <a:rPr lang="it-IT" sz="1400" dirty="0">
                          <a:solidFill>
                            <a:schemeClr val="tx1"/>
                          </a:solidFill>
                          <a:effectLst/>
                        </a:rPr>
                        <a: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spcAft>
                          <a:spcPts val="0"/>
                        </a:spcAft>
                      </a:pPr>
                      <a:r>
                        <a:rPr lang="en-US" sz="1400" dirty="0">
                          <a:solidFill>
                            <a:schemeClr val="tx1"/>
                          </a:solidFill>
                          <a:effectLst/>
                        </a:rPr>
                        <a:t>redshift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gridSpan="2">
                  <a:txBody>
                    <a:bodyPr/>
                    <a:lstStyle/>
                    <a:p>
                      <a:pPr algn="ctr">
                        <a:spcAft>
                          <a:spcPts val="0"/>
                        </a:spcAft>
                      </a:pPr>
                      <a:r>
                        <a:rPr lang="en-US" sz="1400">
                          <a:solidFill>
                            <a:schemeClr val="tx1"/>
                          </a:solidFill>
                          <a:effectLst/>
                        </a:rPr>
                        <a:t>alpha, delta</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gridSpan="2">
                  <a:txBody>
                    <a:bodyPr/>
                    <a:lstStyle/>
                    <a:p>
                      <a:pPr algn="ctr">
                        <a:spcAft>
                          <a:spcPts val="0"/>
                        </a:spcAft>
                      </a:pPr>
                      <a:r>
                        <a:rPr lang="en-US" sz="1400">
                          <a:solidFill>
                            <a:schemeClr val="tx1"/>
                          </a:solidFill>
                          <a:effectLst/>
                        </a:rPr>
                        <a:t>all 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extLst>
                  <a:ext uri="{0D108BD9-81ED-4DB2-BD59-A6C34878D82A}">
                    <a16:rowId xmlns:a16="http://schemas.microsoft.com/office/drawing/2014/main" val="1967340763"/>
                  </a:ext>
                </a:extLst>
              </a:tr>
              <a:tr h="469052">
                <a:tc>
                  <a:txBody>
                    <a:bodyPr/>
                    <a:lstStyle/>
                    <a:p>
                      <a:pPr algn="just">
                        <a:spcAft>
                          <a:spcPts val="0"/>
                        </a:spcAft>
                      </a:pPr>
                      <a:r>
                        <a:rPr lang="it-IT" sz="1400" dirty="0">
                          <a:solidFill>
                            <a:schemeClr val="tx1"/>
                          </a:solidFill>
                          <a:effectLst/>
                        </a:rPr>
                        <a:t>Method/ Results</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Logistic regression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Random Forest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XGBoost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Random Forest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Random Forest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Random Forest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190139403"/>
                  </a:ext>
                </a:extLst>
              </a:tr>
              <a:tr h="234525">
                <a:tc>
                  <a:txBody>
                    <a:bodyPr/>
                    <a:lstStyle/>
                    <a:p>
                      <a:pPr algn="just">
                        <a:spcAft>
                          <a:spcPts val="0"/>
                        </a:spcAft>
                      </a:pPr>
                      <a:r>
                        <a:rPr lang="it-IT" sz="1400">
                          <a:solidFill>
                            <a:schemeClr val="tx1"/>
                          </a:solidFill>
                          <a:effectLst/>
                        </a:rPr>
                        <a:t>Accuracy</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0.7540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dirty="0">
                          <a:solidFill>
                            <a:schemeClr val="tx1"/>
                          </a:solidFill>
                          <a:effectLst/>
                        </a:rPr>
                        <a:t>0.8592</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0.8742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0.8686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0.9492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0.9244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0.6667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0.6749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0.8327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0.9796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804279208"/>
                  </a:ext>
                </a:extLst>
              </a:tr>
              <a:tr h="379976">
                <a:tc>
                  <a:txBody>
                    <a:bodyPr/>
                    <a:lstStyle/>
                    <a:p>
                      <a:pPr algn="just">
                        <a:spcAft>
                          <a:spcPts val="0"/>
                        </a:spcAft>
                      </a:pPr>
                      <a:r>
                        <a:rPr lang="it-IT" sz="1400">
                          <a:solidFill>
                            <a:schemeClr val="tx1"/>
                          </a:solidFill>
                          <a:effectLst/>
                        </a:rPr>
                        <a:t>precision GALAXY</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0.98</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85781012"/>
                  </a:ext>
                </a:extLst>
              </a:tr>
              <a:tr h="379976">
                <a:tc>
                  <a:txBody>
                    <a:bodyPr/>
                    <a:lstStyle/>
                    <a:p>
                      <a:pPr algn="just">
                        <a:spcAft>
                          <a:spcPts val="0"/>
                        </a:spcAft>
                      </a:pPr>
                      <a:r>
                        <a:rPr lang="it-IT" sz="1400">
                          <a:solidFill>
                            <a:schemeClr val="tx1"/>
                          </a:solidFill>
                          <a:effectLst/>
                        </a:rPr>
                        <a:t>precision QSO</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0.42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0.43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538985390"/>
                  </a:ext>
                </a:extLst>
              </a:tr>
              <a:tr h="379976">
                <a:tc>
                  <a:txBody>
                    <a:bodyPr/>
                    <a:lstStyle/>
                    <a:p>
                      <a:pPr algn="just">
                        <a:spcAft>
                          <a:spcPts val="0"/>
                        </a:spcAft>
                      </a:pPr>
                      <a:r>
                        <a:rPr lang="it-IT" sz="1400">
                          <a:solidFill>
                            <a:schemeClr val="tx1"/>
                          </a:solidFill>
                          <a:effectLst/>
                        </a:rPr>
                        <a:t>precision STAR</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0.68</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1.00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1.00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0.59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0.54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dirty="0">
                          <a:solidFill>
                            <a:schemeClr val="tx1"/>
                          </a:solidFill>
                          <a:effectLst/>
                        </a:rPr>
                        <a:t>0.99</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092227704"/>
                  </a:ext>
                </a:extLst>
              </a:tr>
            </a:tbl>
          </a:graphicData>
        </a:graphic>
      </p:graphicFrame>
    </p:spTree>
    <p:extLst>
      <p:ext uri="{BB962C8B-B14F-4D97-AF65-F5344CB8AC3E}">
        <p14:creationId xmlns:p14="http://schemas.microsoft.com/office/powerpoint/2010/main" val="1658515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Experiments: Classification </a:t>
            </a:r>
            <a:r>
              <a:rPr lang="en-US" b="1" dirty="0" smtClean="0">
                <a:solidFill>
                  <a:schemeClr val="accent5">
                    <a:lumMod val="75000"/>
                  </a:schemeClr>
                </a:solidFill>
              </a:rPr>
              <a:t>summary</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The best result for classification was obtained with the </a:t>
            </a:r>
            <a:r>
              <a:rPr lang="en-US" b="1" dirty="0"/>
              <a:t>Random Forest</a:t>
            </a:r>
            <a:r>
              <a:rPr lang="en-US" dirty="0"/>
              <a:t> algorithm, using </a:t>
            </a:r>
            <a:r>
              <a:rPr lang="en-US" b="1" dirty="0"/>
              <a:t>all features</a:t>
            </a:r>
            <a:r>
              <a:rPr lang="en-US" dirty="0"/>
              <a:t>. It achieved an </a:t>
            </a:r>
            <a:r>
              <a:rPr lang="en-US" b="1" dirty="0"/>
              <a:t>accuracy of 0.9796</a:t>
            </a:r>
            <a:r>
              <a:rPr lang="en-US" dirty="0"/>
              <a:t> and an F-score of 0.9782</a:t>
            </a:r>
            <a:r>
              <a:rPr lang="en-US" dirty="0" smtClean="0"/>
              <a:t>.</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490460292"/>
              </p:ext>
            </p:extLst>
          </p:nvPr>
        </p:nvGraphicFramePr>
        <p:xfrm>
          <a:off x="838200" y="3189768"/>
          <a:ext cx="10515597" cy="2987198"/>
        </p:xfrm>
        <a:graphic>
          <a:graphicData uri="http://schemas.openxmlformats.org/drawingml/2006/table">
            <a:tbl>
              <a:tblPr firstRow="1" firstCol="1" lastRow="1" lastCol="1" bandRow="1" bandCol="1">
                <a:tableStyleId>{5C22544A-7EE6-4342-B048-85BDC9FD1C3A}</a:tableStyleId>
              </a:tblPr>
              <a:tblGrid>
                <a:gridCol w="1164828">
                  <a:extLst>
                    <a:ext uri="{9D8B030D-6E8A-4147-A177-3AD203B41FA5}">
                      <a16:colId xmlns:a16="http://schemas.microsoft.com/office/drawing/2014/main" val="4056044041"/>
                    </a:ext>
                  </a:extLst>
                </a:gridCol>
                <a:gridCol w="997831">
                  <a:extLst>
                    <a:ext uri="{9D8B030D-6E8A-4147-A177-3AD203B41FA5}">
                      <a16:colId xmlns:a16="http://schemas.microsoft.com/office/drawing/2014/main" val="2982822232"/>
                    </a:ext>
                  </a:extLst>
                </a:gridCol>
                <a:gridCol w="864025">
                  <a:extLst>
                    <a:ext uri="{9D8B030D-6E8A-4147-A177-3AD203B41FA5}">
                      <a16:colId xmlns:a16="http://schemas.microsoft.com/office/drawing/2014/main" val="138313643"/>
                    </a:ext>
                  </a:extLst>
                </a:gridCol>
                <a:gridCol w="997831">
                  <a:extLst>
                    <a:ext uri="{9D8B030D-6E8A-4147-A177-3AD203B41FA5}">
                      <a16:colId xmlns:a16="http://schemas.microsoft.com/office/drawing/2014/main" val="3776991047"/>
                    </a:ext>
                  </a:extLst>
                </a:gridCol>
                <a:gridCol w="1000942">
                  <a:extLst>
                    <a:ext uri="{9D8B030D-6E8A-4147-A177-3AD203B41FA5}">
                      <a16:colId xmlns:a16="http://schemas.microsoft.com/office/drawing/2014/main" val="1278131071"/>
                    </a:ext>
                  </a:extLst>
                </a:gridCol>
                <a:gridCol w="830833">
                  <a:extLst>
                    <a:ext uri="{9D8B030D-6E8A-4147-A177-3AD203B41FA5}">
                      <a16:colId xmlns:a16="http://schemas.microsoft.com/office/drawing/2014/main" val="2531218521"/>
                    </a:ext>
                  </a:extLst>
                </a:gridCol>
                <a:gridCol w="999905">
                  <a:extLst>
                    <a:ext uri="{9D8B030D-6E8A-4147-A177-3AD203B41FA5}">
                      <a16:colId xmlns:a16="http://schemas.microsoft.com/office/drawing/2014/main" val="418966759"/>
                    </a:ext>
                  </a:extLst>
                </a:gridCol>
                <a:gridCol w="829796">
                  <a:extLst>
                    <a:ext uri="{9D8B030D-6E8A-4147-A177-3AD203B41FA5}">
                      <a16:colId xmlns:a16="http://schemas.microsoft.com/office/drawing/2014/main" val="2109560501"/>
                    </a:ext>
                  </a:extLst>
                </a:gridCol>
                <a:gridCol w="999905">
                  <a:extLst>
                    <a:ext uri="{9D8B030D-6E8A-4147-A177-3AD203B41FA5}">
                      <a16:colId xmlns:a16="http://schemas.microsoft.com/office/drawing/2014/main" val="2491449165"/>
                    </a:ext>
                  </a:extLst>
                </a:gridCol>
                <a:gridCol w="830833">
                  <a:extLst>
                    <a:ext uri="{9D8B030D-6E8A-4147-A177-3AD203B41FA5}">
                      <a16:colId xmlns:a16="http://schemas.microsoft.com/office/drawing/2014/main" val="2944272273"/>
                    </a:ext>
                  </a:extLst>
                </a:gridCol>
                <a:gridCol w="998868">
                  <a:extLst>
                    <a:ext uri="{9D8B030D-6E8A-4147-A177-3AD203B41FA5}">
                      <a16:colId xmlns:a16="http://schemas.microsoft.com/office/drawing/2014/main" val="634138158"/>
                    </a:ext>
                  </a:extLst>
                </a:gridCol>
              </a:tblGrid>
              <a:tr h="381993">
                <a:tc>
                  <a:txBody>
                    <a:bodyPr/>
                    <a:lstStyle/>
                    <a:p>
                      <a:pPr algn="just">
                        <a:spcAft>
                          <a:spcPts val="0"/>
                        </a:spcAft>
                      </a:pPr>
                      <a:r>
                        <a:rPr lang="it-IT" sz="1400">
                          <a:solidFill>
                            <a:schemeClr val="tx1"/>
                          </a:solidFill>
                          <a:effectLst/>
                        </a:rPr>
                        <a:t>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gridSpan="4">
                  <a:txBody>
                    <a:bodyPr/>
                    <a:lstStyle/>
                    <a:p>
                      <a:pPr algn="ctr">
                        <a:spcAft>
                          <a:spcPts val="0"/>
                        </a:spcAft>
                      </a:pPr>
                      <a:r>
                        <a:rPr lang="it-IT" sz="1400" dirty="0">
                          <a:solidFill>
                            <a:schemeClr val="tx1"/>
                          </a:solidFill>
                          <a:effectLst/>
                        </a:rPr>
                        <a:t>spectral features (</a:t>
                      </a:r>
                      <a:r>
                        <a:rPr lang="en-US" sz="1400" dirty="0">
                          <a:solidFill>
                            <a:schemeClr val="tx1"/>
                          </a:solidFill>
                          <a:effectLst/>
                        </a:rPr>
                        <a:t>u, g, r, </a:t>
                      </a:r>
                      <a:r>
                        <a:rPr lang="en-US" sz="1400" dirty="0" err="1">
                          <a:solidFill>
                            <a:schemeClr val="tx1"/>
                          </a:solidFill>
                          <a:effectLst/>
                        </a:rPr>
                        <a:t>i</a:t>
                      </a:r>
                      <a:r>
                        <a:rPr lang="en-US" sz="1400" dirty="0">
                          <a:solidFill>
                            <a:schemeClr val="tx1"/>
                          </a:solidFill>
                          <a:effectLst/>
                        </a:rPr>
                        <a:t>, z</a:t>
                      </a:r>
                      <a:r>
                        <a:rPr lang="it-IT" sz="1400" dirty="0">
                          <a:solidFill>
                            <a:schemeClr val="tx1"/>
                          </a:solidFill>
                          <a:effectLst/>
                        </a:rPr>
                        <a: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spcAft>
                          <a:spcPts val="0"/>
                        </a:spcAft>
                      </a:pPr>
                      <a:r>
                        <a:rPr lang="en-US" sz="1400" dirty="0">
                          <a:solidFill>
                            <a:schemeClr val="tx1"/>
                          </a:solidFill>
                          <a:effectLst/>
                        </a:rPr>
                        <a:t>redshift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gridSpan="2">
                  <a:txBody>
                    <a:bodyPr/>
                    <a:lstStyle/>
                    <a:p>
                      <a:pPr algn="ctr">
                        <a:spcAft>
                          <a:spcPts val="0"/>
                        </a:spcAft>
                      </a:pPr>
                      <a:r>
                        <a:rPr lang="en-US" sz="1400">
                          <a:solidFill>
                            <a:schemeClr val="tx1"/>
                          </a:solidFill>
                          <a:effectLst/>
                        </a:rPr>
                        <a:t>alpha, delta</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gridSpan="2">
                  <a:txBody>
                    <a:bodyPr/>
                    <a:lstStyle/>
                    <a:p>
                      <a:pPr algn="ctr">
                        <a:spcAft>
                          <a:spcPts val="0"/>
                        </a:spcAft>
                      </a:pPr>
                      <a:r>
                        <a:rPr lang="en-US" sz="1400">
                          <a:solidFill>
                            <a:schemeClr val="tx1"/>
                          </a:solidFill>
                          <a:effectLst/>
                        </a:rPr>
                        <a:t>all 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extLst>
                  <a:ext uri="{0D108BD9-81ED-4DB2-BD59-A6C34878D82A}">
                    <a16:rowId xmlns:a16="http://schemas.microsoft.com/office/drawing/2014/main" val="1967340763"/>
                  </a:ext>
                </a:extLst>
              </a:tr>
              <a:tr h="715110">
                <a:tc>
                  <a:txBody>
                    <a:bodyPr/>
                    <a:lstStyle/>
                    <a:p>
                      <a:pPr algn="just">
                        <a:spcAft>
                          <a:spcPts val="0"/>
                        </a:spcAft>
                      </a:pPr>
                      <a:r>
                        <a:rPr lang="it-IT" sz="1400" dirty="0">
                          <a:solidFill>
                            <a:schemeClr val="tx1"/>
                          </a:solidFill>
                          <a:effectLst/>
                        </a:rPr>
                        <a:t>Method/ Results</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Logistic regression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Random Forest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XGBoost</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Random Forest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Random Forest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Random Forest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190139403"/>
                  </a:ext>
                </a:extLst>
              </a:tr>
              <a:tr h="357554">
                <a:tc>
                  <a:txBody>
                    <a:bodyPr/>
                    <a:lstStyle/>
                    <a:p>
                      <a:pPr algn="just">
                        <a:spcAft>
                          <a:spcPts val="0"/>
                        </a:spcAft>
                      </a:pPr>
                      <a:r>
                        <a:rPr lang="it-IT" sz="1400">
                          <a:solidFill>
                            <a:schemeClr val="tx1"/>
                          </a:solidFill>
                          <a:effectLst/>
                        </a:rPr>
                        <a:t>Accuracy</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0.7540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dirty="0">
                          <a:solidFill>
                            <a:schemeClr val="tx1"/>
                          </a:solidFill>
                          <a:effectLst/>
                        </a:rPr>
                        <a:t>0.8592</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0.8742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0.8686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0.9492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0.9244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0.6667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0.6749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0.8327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0.9796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804279208"/>
                  </a:ext>
                </a:extLst>
              </a:tr>
              <a:tr h="510847">
                <a:tc>
                  <a:txBody>
                    <a:bodyPr/>
                    <a:lstStyle/>
                    <a:p>
                      <a:pPr algn="just">
                        <a:spcAft>
                          <a:spcPts val="0"/>
                        </a:spcAft>
                      </a:pPr>
                      <a:r>
                        <a:rPr lang="it-IT" sz="1400">
                          <a:solidFill>
                            <a:schemeClr val="tx1"/>
                          </a:solidFill>
                          <a:effectLst/>
                        </a:rPr>
                        <a:t>precision GALAXY</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0.98</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85781012"/>
                  </a:ext>
                </a:extLst>
              </a:tr>
              <a:tr h="510847">
                <a:tc>
                  <a:txBody>
                    <a:bodyPr/>
                    <a:lstStyle/>
                    <a:p>
                      <a:pPr algn="just">
                        <a:spcAft>
                          <a:spcPts val="0"/>
                        </a:spcAft>
                      </a:pPr>
                      <a:r>
                        <a:rPr lang="it-IT" sz="1400">
                          <a:solidFill>
                            <a:schemeClr val="tx1"/>
                          </a:solidFill>
                          <a:effectLst/>
                        </a:rPr>
                        <a:t>precision QSO</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0.42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0.43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0.97</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538985390"/>
                  </a:ext>
                </a:extLst>
              </a:tr>
              <a:tr h="510847">
                <a:tc>
                  <a:txBody>
                    <a:bodyPr/>
                    <a:lstStyle/>
                    <a:p>
                      <a:pPr algn="just">
                        <a:spcAft>
                          <a:spcPts val="0"/>
                        </a:spcAft>
                      </a:pPr>
                      <a:r>
                        <a:rPr lang="it-IT" sz="1400">
                          <a:solidFill>
                            <a:schemeClr val="tx1"/>
                          </a:solidFill>
                          <a:effectLst/>
                        </a:rPr>
                        <a:t>precision STAR</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0.68</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0.81</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1.00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1.00</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0.59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0.54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a:solidFill>
                            <a:schemeClr val="tx1"/>
                          </a:solidFill>
                          <a:effectLst/>
                        </a:rPr>
                        <a:t>0.79</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dirty="0">
                          <a:solidFill>
                            <a:schemeClr val="tx1"/>
                          </a:solidFill>
                          <a:effectLst/>
                        </a:rPr>
                        <a:t>0.99</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092227704"/>
                  </a:ext>
                </a:extLst>
              </a:tr>
            </a:tbl>
          </a:graphicData>
        </a:graphic>
      </p:graphicFrame>
    </p:spTree>
    <p:extLst>
      <p:ext uri="{BB962C8B-B14F-4D97-AF65-F5344CB8AC3E}">
        <p14:creationId xmlns:p14="http://schemas.microsoft.com/office/powerpoint/2010/main" val="3473304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t>Confusion Matrix (Random Forest)</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a:xfrm>
            <a:off x="838200" y="1825625"/>
            <a:ext cx="5466907" cy="4351338"/>
          </a:xfrm>
        </p:spPr>
        <p:txBody>
          <a:bodyPr/>
          <a:lstStyle/>
          <a:p>
            <a:pPr algn="just"/>
            <a:r>
              <a:rPr lang="en-US" dirty="0"/>
              <a:t>This matrix shows the best result from Random Forest. </a:t>
            </a:r>
            <a:endParaRPr lang="en-US" dirty="0" smtClean="0"/>
          </a:p>
          <a:p>
            <a:pPr algn="just"/>
            <a:r>
              <a:rPr lang="en-US" dirty="0" smtClean="0"/>
              <a:t>We </a:t>
            </a:r>
            <a:r>
              <a:rPr lang="en-US" dirty="0"/>
              <a:t>found 11,750 </a:t>
            </a:r>
            <a:r>
              <a:rPr lang="en-US" dirty="0" smtClean="0"/>
              <a:t>GALAXY </a:t>
            </a:r>
            <a:r>
              <a:rPr lang="en-US" dirty="0"/>
              <a:t>right and 4,318 </a:t>
            </a:r>
            <a:r>
              <a:rPr lang="en-US" dirty="0" smtClean="0"/>
              <a:t>STAR </a:t>
            </a:r>
            <a:r>
              <a:rPr lang="en-US" dirty="0"/>
              <a:t>right. We found 524 QSO right. </a:t>
            </a:r>
            <a:endParaRPr lang="en-US" dirty="0" smtClean="0"/>
          </a:p>
          <a:p>
            <a:pPr algn="just"/>
            <a:r>
              <a:rPr lang="en-US" dirty="0" smtClean="0"/>
              <a:t>The </a:t>
            </a:r>
            <a:r>
              <a:rPr lang="en-US" dirty="0"/>
              <a:t>dark green means we found many objects correctly. Redshift is important because objects are at very different distances.</a:t>
            </a:r>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5758" t="6955" r="11129" b="3348"/>
          <a:stretch/>
        </p:blipFill>
        <p:spPr bwMode="auto">
          <a:xfrm>
            <a:off x="6305107" y="1690688"/>
            <a:ext cx="5048693" cy="44862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67327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Comparison with </a:t>
            </a:r>
            <a:r>
              <a:rPr lang="en-US" b="1" dirty="0" smtClean="0">
                <a:solidFill>
                  <a:schemeClr val="accent5">
                    <a:lumMod val="75000"/>
                  </a:schemeClr>
                </a:solidFill>
              </a:rPr>
              <a:t>related work </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dirty="0"/>
              <a:t>Our </a:t>
            </a:r>
            <a:r>
              <a:rPr lang="en-US" b="1" dirty="0"/>
              <a:t>Random Forest model (0.9796 accuracy)</a:t>
            </a:r>
            <a:r>
              <a:rPr lang="en-US" dirty="0"/>
              <a:t> is comparable to other published findings. For instance, </a:t>
            </a:r>
            <a:r>
              <a:rPr lang="en-US" b="1" dirty="0"/>
              <a:t>one result</a:t>
            </a:r>
            <a:r>
              <a:rPr lang="en-US" dirty="0"/>
              <a:t> from the paper </a:t>
            </a:r>
            <a:r>
              <a:rPr lang="en-US" i="1" dirty="0"/>
              <a:t>Comparison of ML </a:t>
            </a:r>
            <a:r>
              <a:rPr lang="en-US" i="1" dirty="0" smtClean="0"/>
              <a:t>Algorithms and feature importance analysis for star classification, </a:t>
            </a:r>
            <a:r>
              <a:rPr lang="en-US" dirty="0"/>
              <a:t>Zhou, T. (</a:t>
            </a:r>
            <a:r>
              <a:rPr lang="en-US" dirty="0" smtClean="0"/>
              <a:t>2023), achieved </a:t>
            </a:r>
            <a:r>
              <a:rPr lang="en-US" dirty="0"/>
              <a:t>an accuracy of approximately </a:t>
            </a:r>
            <a:r>
              <a:rPr lang="en-US" b="1" dirty="0"/>
              <a:t>0.9786</a:t>
            </a:r>
            <a:r>
              <a:rPr lang="en-US" dirty="0"/>
              <a:t>. This shows that our integration of spectral data, celestial position, and </a:t>
            </a:r>
            <a:r>
              <a:rPr lang="en-US" b="1" dirty="0"/>
              <a:t>redshift</a:t>
            </a:r>
            <a:r>
              <a:rPr lang="en-US" dirty="0"/>
              <a:t> allows us to maintain a strong </a:t>
            </a:r>
            <a:r>
              <a:rPr lang="en-US" dirty="0" smtClean="0"/>
              <a:t>level.</a:t>
            </a:r>
          </a:p>
        </p:txBody>
      </p:sp>
    </p:spTree>
    <p:extLst>
      <p:ext uri="{BB962C8B-B14F-4D97-AF65-F5344CB8AC3E}">
        <p14:creationId xmlns:p14="http://schemas.microsoft.com/office/powerpoint/2010/main" val="19649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smtClean="0">
                <a:solidFill>
                  <a:schemeClr val="accent5">
                    <a:lumMod val="75000"/>
                  </a:schemeClr>
                </a:solidFill>
              </a:rPr>
              <a:t>Another experiments</a:t>
            </a:r>
            <a:r>
              <a:rPr lang="en-US" b="1" dirty="0">
                <a:solidFill>
                  <a:schemeClr val="accent5">
                    <a:lumMod val="75000"/>
                  </a:schemeClr>
                </a:solidFill>
              </a:rPr>
              <a:t>: Regression </a:t>
            </a:r>
            <a:r>
              <a:rPr lang="en-US" b="1" dirty="0" smtClean="0">
                <a:solidFill>
                  <a:schemeClr val="accent5">
                    <a:lumMod val="75000"/>
                  </a:schemeClr>
                </a:solidFill>
              </a:rPr>
              <a:t>summary</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We tested to predict object distances (Redshift). </a:t>
            </a:r>
            <a:endParaRPr lang="en-US" dirty="0" smtClean="0"/>
          </a:p>
          <a:p>
            <a:pPr algn="just"/>
            <a:r>
              <a:rPr lang="en-US" dirty="0" smtClean="0"/>
              <a:t>We </a:t>
            </a:r>
            <a:r>
              <a:rPr lang="en-US" dirty="0"/>
              <a:t>used Linear Regression, Polynomial Regression, and </a:t>
            </a:r>
            <a:r>
              <a:rPr lang="en-US" dirty="0" err="1"/>
              <a:t>LightGBM</a:t>
            </a:r>
            <a:r>
              <a:rPr lang="en-US" dirty="0"/>
              <a:t>. K-Nearest Neighbors worked best with a score of 0.4328 (R-squared). This shows good distance estimation using color and position data.</a:t>
            </a:r>
          </a:p>
        </p:txBody>
      </p:sp>
      <p:graphicFrame>
        <p:nvGraphicFramePr>
          <p:cNvPr id="4" name="Table 3"/>
          <p:cNvGraphicFramePr>
            <a:graphicFrameLocks noGrp="1"/>
          </p:cNvGraphicFramePr>
          <p:nvPr>
            <p:extLst>
              <p:ext uri="{D42A27DB-BD31-4B8C-83A1-F6EECF244321}">
                <p14:modId xmlns:p14="http://schemas.microsoft.com/office/powerpoint/2010/main" val="3845905108"/>
              </p:ext>
            </p:extLst>
          </p:nvPr>
        </p:nvGraphicFramePr>
        <p:xfrm>
          <a:off x="838200" y="4306186"/>
          <a:ext cx="10515600" cy="1870777"/>
        </p:xfrm>
        <a:graphic>
          <a:graphicData uri="http://schemas.openxmlformats.org/drawingml/2006/table">
            <a:tbl>
              <a:tblPr firstRow="1" firstCol="1" lastRow="1" lastCol="1" bandRow="1" bandCol="1">
                <a:tableStyleId>{5C22544A-7EE6-4342-B048-85BDC9FD1C3A}</a:tableStyleId>
              </a:tblPr>
              <a:tblGrid>
                <a:gridCol w="1469155">
                  <a:extLst>
                    <a:ext uri="{9D8B030D-6E8A-4147-A177-3AD203B41FA5}">
                      <a16:colId xmlns:a16="http://schemas.microsoft.com/office/drawing/2014/main" val="3935900404"/>
                    </a:ext>
                  </a:extLst>
                </a:gridCol>
                <a:gridCol w="2068500">
                  <a:extLst>
                    <a:ext uri="{9D8B030D-6E8A-4147-A177-3AD203B41FA5}">
                      <a16:colId xmlns:a16="http://schemas.microsoft.com/office/drawing/2014/main" val="238554986"/>
                    </a:ext>
                  </a:extLst>
                </a:gridCol>
                <a:gridCol w="2895036">
                  <a:extLst>
                    <a:ext uri="{9D8B030D-6E8A-4147-A177-3AD203B41FA5}">
                      <a16:colId xmlns:a16="http://schemas.microsoft.com/office/drawing/2014/main" val="3984705365"/>
                    </a:ext>
                  </a:extLst>
                </a:gridCol>
                <a:gridCol w="1882422">
                  <a:extLst>
                    <a:ext uri="{9D8B030D-6E8A-4147-A177-3AD203B41FA5}">
                      <a16:colId xmlns:a16="http://schemas.microsoft.com/office/drawing/2014/main" val="3601748633"/>
                    </a:ext>
                  </a:extLst>
                </a:gridCol>
                <a:gridCol w="2200487">
                  <a:extLst>
                    <a:ext uri="{9D8B030D-6E8A-4147-A177-3AD203B41FA5}">
                      <a16:colId xmlns:a16="http://schemas.microsoft.com/office/drawing/2014/main" val="2594107773"/>
                    </a:ext>
                  </a:extLst>
                </a:gridCol>
              </a:tblGrid>
              <a:tr h="1114839">
                <a:tc>
                  <a:txBody>
                    <a:bodyPr/>
                    <a:lstStyle/>
                    <a:p>
                      <a:pPr algn="ctr">
                        <a:spcAft>
                          <a:spcPts val="0"/>
                        </a:spcAft>
                      </a:pPr>
                      <a:r>
                        <a:rPr lang="it-IT" sz="1400">
                          <a:solidFill>
                            <a:schemeClr val="tx1"/>
                          </a:solidFill>
                          <a:effectLst/>
                        </a:rPr>
                        <a:t>Method</a:t>
                      </a:r>
                      <a:endParaRPr lang="en-US" sz="1400">
                        <a:solidFill>
                          <a:schemeClr val="tx1"/>
                        </a:solidFill>
                        <a:effectLst/>
                      </a:endParaRPr>
                    </a:p>
                    <a:p>
                      <a:pPr algn="just">
                        <a:spcAft>
                          <a:spcPts val="0"/>
                        </a:spcAft>
                      </a:pPr>
                      <a:r>
                        <a:rPr lang="it-IT" sz="1400">
                          <a:solidFill>
                            <a:schemeClr val="tx1"/>
                          </a:solidFill>
                          <a:effectLst/>
                        </a:rPr>
                        <a:t>/Metrics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Linear regression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Polynomial regression of degree 2</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 (k=22)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LightGBM </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46085600"/>
                  </a:ext>
                </a:extLst>
              </a:tr>
              <a:tr h="377969">
                <a:tc>
                  <a:txBody>
                    <a:bodyPr/>
                    <a:lstStyle/>
                    <a:p>
                      <a:pPr algn="ctr">
                        <a:spcAft>
                          <a:spcPts val="0"/>
                        </a:spcAft>
                      </a:pPr>
                      <a:r>
                        <a:rPr lang="it-IT" sz="1400">
                          <a:solidFill>
                            <a:schemeClr val="tx1"/>
                          </a:solidFill>
                          <a:effectLst/>
                        </a:rPr>
                        <a:t>R</a:t>
                      </a:r>
                      <a:r>
                        <a:rPr lang="it-IT" sz="1400" baseline="30000">
                          <a:solidFill>
                            <a:schemeClr val="tx1"/>
                          </a:solidFill>
                          <a:effectLst/>
                        </a:rPr>
                        <a:t>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it-IT" sz="1400" b="0">
                          <a:solidFill>
                            <a:schemeClr val="tx1"/>
                          </a:solidFill>
                          <a:effectLst/>
                        </a:rPr>
                        <a:t>0.2792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0.2939</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1" dirty="0">
                          <a:solidFill>
                            <a:schemeClr val="tx1"/>
                          </a:solidFill>
                          <a:effectLst/>
                        </a:rPr>
                        <a:t>0.4328</a:t>
                      </a:r>
                      <a:endParaRPr lang="en-US" sz="1400" b="1"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0.4259</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758741739"/>
                  </a:ext>
                </a:extLst>
              </a:tr>
              <a:tr h="377969">
                <a:tc>
                  <a:txBody>
                    <a:bodyPr/>
                    <a:lstStyle/>
                    <a:p>
                      <a:pPr algn="ctr">
                        <a:spcAft>
                          <a:spcPts val="0"/>
                        </a:spcAft>
                      </a:pPr>
                      <a:r>
                        <a:rPr lang="it-IT" sz="1400">
                          <a:solidFill>
                            <a:schemeClr val="tx1"/>
                          </a:solidFill>
                          <a:effectLst/>
                        </a:rPr>
                        <a:t>MSE</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it-IT" sz="1400" b="0">
                          <a:solidFill>
                            <a:schemeClr val="tx1"/>
                          </a:solidFill>
                          <a:effectLst/>
                        </a:rPr>
                        <a:t>0.3902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b="0">
                          <a:solidFill>
                            <a:schemeClr val="tx1"/>
                          </a:solidFill>
                          <a:effectLst/>
                        </a:rPr>
                        <a:t>0.3823</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1" dirty="0">
                          <a:solidFill>
                            <a:schemeClr val="tx1"/>
                          </a:solidFill>
                          <a:effectLst/>
                        </a:rPr>
                        <a:t>0.3071</a:t>
                      </a:r>
                      <a:endParaRPr lang="en-US" sz="1400" b="1"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0.3070</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260205040"/>
                  </a:ext>
                </a:extLst>
              </a:tr>
            </a:tbl>
          </a:graphicData>
        </a:graphic>
      </p:graphicFrame>
    </p:spTree>
    <p:extLst>
      <p:ext uri="{BB962C8B-B14F-4D97-AF65-F5344CB8AC3E}">
        <p14:creationId xmlns:p14="http://schemas.microsoft.com/office/powerpoint/2010/main" val="2304697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Detailed Regression </a:t>
            </a:r>
            <a:r>
              <a:rPr lang="en-US" b="1" dirty="0" smtClean="0">
                <a:solidFill>
                  <a:schemeClr val="accent5">
                    <a:lumMod val="75000"/>
                  </a:schemeClr>
                </a:solidFill>
              </a:rPr>
              <a:t>results</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This table shows the Redshift prediction results. The best result is from k-NN (k=22). The R-squared score is 0.4328. This score tells us the model is okay at predicting distance. Linear Regression is the worst (0.2792). This shows that the distance relationship is not a straight line (non-linear).</a:t>
            </a:r>
          </a:p>
        </p:txBody>
      </p:sp>
      <p:graphicFrame>
        <p:nvGraphicFramePr>
          <p:cNvPr id="4" name="Table 3"/>
          <p:cNvGraphicFramePr>
            <a:graphicFrameLocks noGrp="1"/>
          </p:cNvGraphicFramePr>
          <p:nvPr>
            <p:extLst>
              <p:ext uri="{D42A27DB-BD31-4B8C-83A1-F6EECF244321}">
                <p14:modId xmlns:p14="http://schemas.microsoft.com/office/powerpoint/2010/main" val="2358155193"/>
              </p:ext>
            </p:extLst>
          </p:nvPr>
        </p:nvGraphicFramePr>
        <p:xfrm>
          <a:off x="838200" y="4306186"/>
          <a:ext cx="10515600" cy="1870777"/>
        </p:xfrm>
        <a:graphic>
          <a:graphicData uri="http://schemas.openxmlformats.org/drawingml/2006/table">
            <a:tbl>
              <a:tblPr firstRow="1" firstCol="1" lastRow="1" lastCol="1" bandRow="1" bandCol="1">
                <a:tableStyleId>{5C22544A-7EE6-4342-B048-85BDC9FD1C3A}</a:tableStyleId>
              </a:tblPr>
              <a:tblGrid>
                <a:gridCol w="1469155">
                  <a:extLst>
                    <a:ext uri="{9D8B030D-6E8A-4147-A177-3AD203B41FA5}">
                      <a16:colId xmlns:a16="http://schemas.microsoft.com/office/drawing/2014/main" val="3935900404"/>
                    </a:ext>
                  </a:extLst>
                </a:gridCol>
                <a:gridCol w="2068500">
                  <a:extLst>
                    <a:ext uri="{9D8B030D-6E8A-4147-A177-3AD203B41FA5}">
                      <a16:colId xmlns:a16="http://schemas.microsoft.com/office/drawing/2014/main" val="238554986"/>
                    </a:ext>
                  </a:extLst>
                </a:gridCol>
                <a:gridCol w="2895036">
                  <a:extLst>
                    <a:ext uri="{9D8B030D-6E8A-4147-A177-3AD203B41FA5}">
                      <a16:colId xmlns:a16="http://schemas.microsoft.com/office/drawing/2014/main" val="3984705365"/>
                    </a:ext>
                  </a:extLst>
                </a:gridCol>
                <a:gridCol w="1882422">
                  <a:extLst>
                    <a:ext uri="{9D8B030D-6E8A-4147-A177-3AD203B41FA5}">
                      <a16:colId xmlns:a16="http://schemas.microsoft.com/office/drawing/2014/main" val="3601748633"/>
                    </a:ext>
                  </a:extLst>
                </a:gridCol>
                <a:gridCol w="2200487">
                  <a:extLst>
                    <a:ext uri="{9D8B030D-6E8A-4147-A177-3AD203B41FA5}">
                      <a16:colId xmlns:a16="http://schemas.microsoft.com/office/drawing/2014/main" val="2594107773"/>
                    </a:ext>
                  </a:extLst>
                </a:gridCol>
              </a:tblGrid>
              <a:tr h="1114839">
                <a:tc>
                  <a:txBody>
                    <a:bodyPr/>
                    <a:lstStyle/>
                    <a:p>
                      <a:pPr algn="ctr">
                        <a:spcAft>
                          <a:spcPts val="0"/>
                        </a:spcAft>
                      </a:pPr>
                      <a:r>
                        <a:rPr lang="it-IT" sz="1400">
                          <a:solidFill>
                            <a:schemeClr val="tx1"/>
                          </a:solidFill>
                          <a:effectLst/>
                        </a:rPr>
                        <a:t>Method</a:t>
                      </a:r>
                      <a:endParaRPr lang="en-US" sz="1400">
                        <a:solidFill>
                          <a:schemeClr val="tx1"/>
                        </a:solidFill>
                        <a:effectLst/>
                      </a:endParaRPr>
                    </a:p>
                    <a:p>
                      <a:pPr algn="just">
                        <a:spcAft>
                          <a:spcPts val="0"/>
                        </a:spcAft>
                      </a:pPr>
                      <a:r>
                        <a:rPr lang="it-IT" sz="1400">
                          <a:solidFill>
                            <a:schemeClr val="tx1"/>
                          </a:solidFill>
                          <a:effectLst/>
                        </a:rPr>
                        <a:t>/Metrics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Linear regression</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dirty="0">
                          <a:solidFill>
                            <a:schemeClr val="tx1"/>
                          </a:solidFill>
                          <a:effectLst/>
                        </a:rPr>
                        <a:t>Polynomial regression of degree 2</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k-NN (k=22)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a:solidFill>
                            <a:schemeClr val="tx1"/>
                          </a:solidFill>
                          <a:effectLst/>
                        </a:rPr>
                        <a:t>LightGBM </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46085600"/>
                  </a:ext>
                </a:extLst>
              </a:tr>
              <a:tr h="377969">
                <a:tc>
                  <a:txBody>
                    <a:bodyPr/>
                    <a:lstStyle/>
                    <a:p>
                      <a:pPr algn="ctr">
                        <a:spcAft>
                          <a:spcPts val="0"/>
                        </a:spcAft>
                      </a:pPr>
                      <a:r>
                        <a:rPr lang="it-IT" sz="1400">
                          <a:solidFill>
                            <a:schemeClr val="tx1"/>
                          </a:solidFill>
                          <a:effectLst/>
                        </a:rPr>
                        <a:t>R</a:t>
                      </a:r>
                      <a:r>
                        <a:rPr lang="it-IT" sz="1400" baseline="30000">
                          <a:solidFill>
                            <a:schemeClr val="tx1"/>
                          </a:solidFill>
                          <a:effectLst/>
                        </a:rPr>
                        <a:t>2</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it-IT" sz="1400" b="0">
                          <a:solidFill>
                            <a:schemeClr val="tx1"/>
                          </a:solidFill>
                          <a:effectLst/>
                        </a:rPr>
                        <a:t>0.2792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0.2939</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1" dirty="0">
                          <a:solidFill>
                            <a:schemeClr val="tx1"/>
                          </a:solidFill>
                          <a:effectLst/>
                        </a:rPr>
                        <a:t>0.4328</a:t>
                      </a:r>
                      <a:endParaRPr lang="en-US" sz="1400" b="1"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0.4259</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758741739"/>
                  </a:ext>
                </a:extLst>
              </a:tr>
              <a:tr h="377969">
                <a:tc>
                  <a:txBody>
                    <a:bodyPr/>
                    <a:lstStyle/>
                    <a:p>
                      <a:pPr algn="ctr">
                        <a:spcAft>
                          <a:spcPts val="0"/>
                        </a:spcAft>
                      </a:pPr>
                      <a:r>
                        <a:rPr lang="it-IT" sz="1400">
                          <a:solidFill>
                            <a:schemeClr val="tx1"/>
                          </a:solidFill>
                          <a:effectLst/>
                        </a:rPr>
                        <a:t>MSE</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it-IT" sz="1400" b="0">
                          <a:solidFill>
                            <a:schemeClr val="tx1"/>
                          </a:solidFill>
                          <a:effectLst/>
                        </a:rPr>
                        <a:t>0.3902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it-IT" sz="1400" b="0">
                          <a:solidFill>
                            <a:schemeClr val="tx1"/>
                          </a:solidFill>
                          <a:effectLst/>
                        </a:rPr>
                        <a:t>0.3823</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1" dirty="0">
                          <a:solidFill>
                            <a:schemeClr val="tx1"/>
                          </a:solidFill>
                          <a:effectLst/>
                        </a:rPr>
                        <a:t>0.3071</a:t>
                      </a:r>
                      <a:endParaRPr lang="en-US" sz="1400" b="1"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0.3070</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260205040"/>
                  </a:ext>
                </a:extLst>
              </a:tr>
            </a:tbl>
          </a:graphicData>
        </a:graphic>
      </p:graphicFrame>
    </p:spTree>
    <p:extLst>
      <p:ext uri="{BB962C8B-B14F-4D97-AF65-F5344CB8AC3E}">
        <p14:creationId xmlns:p14="http://schemas.microsoft.com/office/powerpoint/2010/main" val="1424089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k-NN Performance </a:t>
            </a:r>
            <a:r>
              <a:rPr lang="en-US" b="1" dirty="0" smtClean="0">
                <a:solidFill>
                  <a:schemeClr val="accent5">
                    <a:lumMod val="75000"/>
                  </a:schemeClr>
                </a:solidFill>
              </a:rPr>
              <a:t>optimization </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a:xfrm>
            <a:off x="838200" y="1825625"/>
            <a:ext cx="5435008" cy="4351338"/>
          </a:xfrm>
        </p:spPr>
        <p:txBody>
          <a:bodyPr/>
          <a:lstStyle/>
          <a:p>
            <a:pPr algn="just"/>
            <a:r>
              <a:rPr lang="en-US" dirty="0"/>
              <a:t>We had to find the </a:t>
            </a:r>
            <a:r>
              <a:rPr lang="en-US" b="1" dirty="0"/>
              <a:t>best 'k' for k-NN</a:t>
            </a:r>
            <a:r>
              <a:rPr lang="en-US" dirty="0"/>
              <a:t>. </a:t>
            </a:r>
            <a:endParaRPr lang="en-US" dirty="0" smtClean="0"/>
          </a:p>
          <a:p>
            <a:pPr algn="just"/>
            <a:r>
              <a:rPr lang="en-US" dirty="0" smtClean="0"/>
              <a:t>We </a:t>
            </a:r>
            <a:r>
              <a:rPr lang="en-US" dirty="0"/>
              <a:t>tested many numbers of neighbors. The </a:t>
            </a:r>
            <a:r>
              <a:rPr lang="en-US" b="1" dirty="0"/>
              <a:t>best 'k' is 22</a:t>
            </a:r>
            <a:r>
              <a:rPr lang="en-US" dirty="0"/>
              <a:t>. This number gave us the highest R-squared score (0.4328). </a:t>
            </a:r>
            <a:endParaRPr lang="en-US" dirty="0" smtClean="0"/>
          </a:p>
          <a:p>
            <a:pPr algn="just"/>
            <a:r>
              <a:rPr lang="en-US" dirty="0" smtClean="0"/>
              <a:t>The </a:t>
            </a:r>
            <a:r>
              <a:rPr lang="en-US" dirty="0"/>
              <a:t>score goes up fast, and then it stays high.</a:t>
            </a:r>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6113" t="7410" r="8487" b="3067"/>
          <a:stretch/>
        </p:blipFill>
        <p:spPr bwMode="auto">
          <a:xfrm>
            <a:off x="6273209" y="1690689"/>
            <a:ext cx="5080590" cy="44862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15072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err="1">
                <a:solidFill>
                  <a:schemeClr val="accent5">
                    <a:lumMod val="75000"/>
                  </a:schemeClr>
                </a:solidFill>
              </a:rPr>
              <a:t>LightGBM</a:t>
            </a:r>
            <a:r>
              <a:rPr lang="en-US" b="1" dirty="0">
                <a:solidFill>
                  <a:schemeClr val="accent5">
                    <a:lumMod val="75000"/>
                  </a:schemeClr>
                </a:solidFill>
              </a:rPr>
              <a:t> </a:t>
            </a:r>
            <a:r>
              <a:rPr lang="en-US" b="1" dirty="0" err="1">
                <a:solidFill>
                  <a:schemeClr val="accent5">
                    <a:lumMod val="75000"/>
                  </a:schemeClr>
                </a:solidFill>
              </a:rPr>
              <a:t>Hyperparameter</a:t>
            </a:r>
            <a:r>
              <a:rPr lang="en-US" b="1" dirty="0">
                <a:solidFill>
                  <a:schemeClr val="accent5">
                    <a:lumMod val="75000"/>
                  </a:schemeClr>
                </a:solidFill>
              </a:rPr>
              <a:t> </a:t>
            </a:r>
            <a:r>
              <a:rPr lang="en-US" b="1" dirty="0" smtClean="0">
                <a:solidFill>
                  <a:schemeClr val="accent5">
                    <a:lumMod val="75000"/>
                  </a:schemeClr>
                </a:solidFill>
              </a:rPr>
              <a:t>tuning </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a:xfrm>
            <a:off x="838200" y="1825625"/>
            <a:ext cx="10432312" cy="4351338"/>
          </a:xfrm>
        </p:spPr>
        <p:txBody>
          <a:bodyPr/>
          <a:lstStyle/>
          <a:p>
            <a:pPr algn="just"/>
            <a:r>
              <a:rPr lang="en-US" dirty="0"/>
              <a:t>The </a:t>
            </a:r>
            <a:r>
              <a:rPr lang="en-US" b="1" dirty="0" err="1"/>
              <a:t>LightGBM</a:t>
            </a:r>
            <a:r>
              <a:rPr lang="en-US" dirty="0"/>
              <a:t> model was </a:t>
            </a:r>
            <a:r>
              <a:rPr lang="en-US" b="1" dirty="0"/>
              <a:t>carefully tuned</a:t>
            </a:r>
            <a:r>
              <a:rPr lang="en-US" dirty="0"/>
              <a:t> to find the best settings and prevent over-fitting. </a:t>
            </a:r>
            <a:endParaRPr lang="en-US" dirty="0" smtClean="0"/>
          </a:p>
          <a:p>
            <a:pPr algn="just"/>
            <a:r>
              <a:rPr lang="en-US" dirty="0" smtClean="0"/>
              <a:t>Key </a:t>
            </a:r>
            <a:r>
              <a:rPr lang="en-US" dirty="0"/>
              <a:t>parameters like </a:t>
            </a:r>
            <a:r>
              <a:rPr lang="en-US" b="1" dirty="0" err="1"/>
              <a:t>n_estimators</a:t>
            </a:r>
            <a:r>
              <a:rPr lang="en-US" b="1" dirty="0"/>
              <a:t>=600</a:t>
            </a:r>
            <a:r>
              <a:rPr lang="en-US" dirty="0"/>
              <a:t>, </a:t>
            </a:r>
            <a:r>
              <a:rPr lang="en-US" b="1" dirty="0" err="1"/>
              <a:t>learning_rate</a:t>
            </a:r>
            <a:r>
              <a:rPr lang="en-US" b="1" dirty="0"/>
              <a:t>=0.015</a:t>
            </a:r>
            <a:r>
              <a:rPr lang="en-US" dirty="0"/>
              <a:t>, and </a:t>
            </a:r>
            <a:r>
              <a:rPr lang="en-US" b="1" dirty="0" err="1"/>
              <a:t>max_depth</a:t>
            </a:r>
            <a:r>
              <a:rPr lang="en-US" b="1" dirty="0"/>
              <a:t>=12</a:t>
            </a:r>
            <a:r>
              <a:rPr lang="en-US" dirty="0"/>
              <a:t> were selected. </a:t>
            </a:r>
            <a:endParaRPr lang="en-US" dirty="0" smtClean="0"/>
          </a:p>
          <a:p>
            <a:pPr algn="just"/>
            <a:r>
              <a:rPr lang="en-US" dirty="0" smtClean="0"/>
              <a:t>We </a:t>
            </a:r>
            <a:r>
              <a:rPr lang="en-US" dirty="0"/>
              <a:t>also used </a:t>
            </a:r>
            <a:r>
              <a:rPr lang="en-US" b="1" dirty="0"/>
              <a:t>regularization</a:t>
            </a:r>
            <a:r>
              <a:rPr lang="en-US" dirty="0"/>
              <a:t> (</a:t>
            </a:r>
            <a:r>
              <a:rPr lang="en-US" dirty="0" err="1"/>
              <a:t>reg_alpha</a:t>
            </a:r>
            <a:r>
              <a:rPr lang="en-US" dirty="0"/>
              <a:t> and </a:t>
            </a:r>
            <a:r>
              <a:rPr lang="en-US" dirty="0" err="1"/>
              <a:t>reg_lambda</a:t>
            </a:r>
            <a:r>
              <a:rPr lang="en-US" dirty="0"/>
              <a:t>) to control the model's complexity and ensure the results are robust.</a:t>
            </a:r>
          </a:p>
        </p:txBody>
      </p:sp>
    </p:spTree>
    <p:extLst>
      <p:ext uri="{BB962C8B-B14F-4D97-AF65-F5344CB8AC3E}">
        <p14:creationId xmlns:p14="http://schemas.microsoft.com/office/powerpoint/2010/main" val="2023234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Another </a:t>
            </a:r>
            <a:r>
              <a:rPr lang="en-US" b="1" dirty="0" smtClean="0">
                <a:solidFill>
                  <a:schemeClr val="accent5">
                    <a:lumMod val="75000"/>
                  </a:schemeClr>
                </a:solidFill>
              </a:rPr>
              <a:t>experiments: </a:t>
            </a:r>
            <a:r>
              <a:rPr lang="en-US" b="1" dirty="0">
                <a:solidFill>
                  <a:schemeClr val="accent5">
                    <a:lumMod val="75000"/>
                  </a:schemeClr>
                </a:solidFill>
              </a:rPr>
              <a:t>Clustering </a:t>
            </a:r>
            <a:r>
              <a:rPr lang="en-US" b="1" dirty="0" smtClean="0">
                <a:solidFill>
                  <a:schemeClr val="accent5">
                    <a:lumMod val="75000"/>
                  </a:schemeClr>
                </a:solidFill>
              </a:rPr>
              <a:t>summary</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We grouped objects with clustering tests. We tried K-means and DBSCAN. K-means gave the best score, 0.6692 (Silhouette Score). K-means groups objects by distance. This found new patterns for our study.</a:t>
            </a:r>
          </a:p>
        </p:txBody>
      </p:sp>
      <p:graphicFrame>
        <p:nvGraphicFramePr>
          <p:cNvPr id="4" name="Table 3"/>
          <p:cNvGraphicFramePr>
            <a:graphicFrameLocks noGrp="1"/>
          </p:cNvGraphicFramePr>
          <p:nvPr>
            <p:extLst>
              <p:ext uri="{D42A27DB-BD31-4B8C-83A1-F6EECF244321}">
                <p14:modId xmlns:p14="http://schemas.microsoft.com/office/powerpoint/2010/main" val="2022962170"/>
              </p:ext>
            </p:extLst>
          </p:nvPr>
        </p:nvGraphicFramePr>
        <p:xfrm>
          <a:off x="838206" y="3912780"/>
          <a:ext cx="10515589" cy="2264183"/>
        </p:xfrm>
        <a:graphic>
          <a:graphicData uri="http://schemas.openxmlformats.org/drawingml/2006/table">
            <a:tbl>
              <a:tblPr firstRow="1" firstCol="1" lastRow="1" lastCol="1" bandRow="1" bandCol="1">
                <a:tableStyleId>{5C22544A-7EE6-4342-B048-85BDC9FD1C3A}</a:tableStyleId>
              </a:tblPr>
              <a:tblGrid>
                <a:gridCol w="1145857">
                  <a:extLst>
                    <a:ext uri="{9D8B030D-6E8A-4147-A177-3AD203B41FA5}">
                      <a16:colId xmlns:a16="http://schemas.microsoft.com/office/drawing/2014/main" val="3015694333"/>
                    </a:ext>
                  </a:extLst>
                </a:gridCol>
                <a:gridCol w="780466">
                  <a:extLst>
                    <a:ext uri="{9D8B030D-6E8A-4147-A177-3AD203B41FA5}">
                      <a16:colId xmlns:a16="http://schemas.microsoft.com/office/drawing/2014/main" val="1688803132"/>
                    </a:ext>
                  </a:extLst>
                </a:gridCol>
                <a:gridCol w="780466">
                  <a:extLst>
                    <a:ext uri="{9D8B030D-6E8A-4147-A177-3AD203B41FA5}">
                      <a16:colId xmlns:a16="http://schemas.microsoft.com/office/drawing/2014/main" val="59228374"/>
                    </a:ext>
                  </a:extLst>
                </a:gridCol>
                <a:gridCol w="781501">
                  <a:extLst>
                    <a:ext uri="{9D8B030D-6E8A-4147-A177-3AD203B41FA5}">
                      <a16:colId xmlns:a16="http://schemas.microsoft.com/office/drawing/2014/main" val="551690950"/>
                    </a:ext>
                  </a:extLst>
                </a:gridCol>
                <a:gridCol w="780466">
                  <a:extLst>
                    <a:ext uri="{9D8B030D-6E8A-4147-A177-3AD203B41FA5}">
                      <a16:colId xmlns:a16="http://schemas.microsoft.com/office/drawing/2014/main" val="3016880437"/>
                    </a:ext>
                  </a:extLst>
                </a:gridCol>
                <a:gridCol w="780466">
                  <a:extLst>
                    <a:ext uri="{9D8B030D-6E8A-4147-A177-3AD203B41FA5}">
                      <a16:colId xmlns:a16="http://schemas.microsoft.com/office/drawing/2014/main" val="3290380391"/>
                    </a:ext>
                  </a:extLst>
                </a:gridCol>
                <a:gridCol w="781501">
                  <a:extLst>
                    <a:ext uri="{9D8B030D-6E8A-4147-A177-3AD203B41FA5}">
                      <a16:colId xmlns:a16="http://schemas.microsoft.com/office/drawing/2014/main" val="2736967530"/>
                    </a:ext>
                  </a:extLst>
                </a:gridCol>
                <a:gridCol w="780466">
                  <a:extLst>
                    <a:ext uri="{9D8B030D-6E8A-4147-A177-3AD203B41FA5}">
                      <a16:colId xmlns:a16="http://schemas.microsoft.com/office/drawing/2014/main" val="3098695408"/>
                    </a:ext>
                  </a:extLst>
                </a:gridCol>
                <a:gridCol w="780466">
                  <a:extLst>
                    <a:ext uri="{9D8B030D-6E8A-4147-A177-3AD203B41FA5}">
                      <a16:colId xmlns:a16="http://schemas.microsoft.com/office/drawing/2014/main" val="1319341983"/>
                    </a:ext>
                  </a:extLst>
                </a:gridCol>
                <a:gridCol w="781501">
                  <a:extLst>
                    <a:ext uri="{9D8B030D-6E8A-4147-A177-3AD203B41FA5}">
                      <a16:colId xmlns:a16="http://schemas.microsoft.com/office/drawing/2014/main" val="2652055562"/>
                    </a:ext>
                  </a:extLst>
                </a:gridCol>
                <a:gridCol w="780466">
                  <a:extLst>
                    <a:ext uri="{9D8B030D-6E8A-4147-A177-3AD203B41FA5}">
                      <a16:colId xmlns:a16="http://schemas.microsoft.com/office/drawing/2014/main" val="2878906649"/>
                    </a:ext>
                  </a:extLst>
                </a:gridCol>
                <a:gridCol w="780466">
                  <a:extLst>
                    <a:ext uri="{9D8B030D-6E8A-4147-A177-3AD203B41FA5}">
                      <a16:colId xmlns:a16="http://schemas.microsoft.com/office/drawing/2014/main" val="1214649025"/>
                    </a:ext>
                  </a:extLst>
                </a:gridCol>
                <a:gridCol w="781501">
                  <a:extLst>
                    <a:ext uri="{9D8B030D-6E8A-4147-A177-3AD203B41FA5}">
                      <a16:colId xmlns:a16="http://schemas.microsoft.com/office/drawing/2014/main" val="1489247991"/>
                    </a:ext>
                  </a:extLst>
                </a:gridCol>
              </a:tblGrid>
              <a:tr h="709220">
                <a:tc>
                  <a:txBody>
                    <a:bodyPr/>
                    <a:lstStyle/>
                    <a:p>
                      <a:pPr algn="ctr">
                        <a:spcAft>
                          <a:spcPts val="0"/>
                        </a:spcAft>
                      </a:pPr>
                      <a:r>
                        <a:rPr lang="en-US" sz="1400">
                          <a:solidFill>
                            <a:schemeClr val="tx1"/>
                          </a:solidFill>
                          <a:effectLst/>
                        </a:rPr>
                        <a:t>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gridSpan="3">
                  <a:txBody>
                    <a:bodyPr/>
                    <a:lstStyle/>
                    <a:p>
                      <a:pPr algn="ctr">
                        <a:spcAft>
                          <a:spcPts val="0"/>
                        </a:spcAft>
                      </a:pPr>
                      <a:r>
                        <a:rPr lang="en-US" sz="1400">
                          <a:solidFill>
                            <a:schemeClr val="tx1"/>
                          </a:solidFill>
                          <a:effectLst/>
                        </a:rPr>
                        <a:t>spectral (u, g, r, i, z)</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gridSpan="3">
                  <a:txBody>
                    <a:bodyPr/>
                    <a:lstStyle/>
                    <a:p>
                      <a:pPr algn="ctr">
                        <a:spcAft>
                          <a:spcPts val="0"/>
                        </a:spcAft>
                      </a:pPr>
                      <a:r>
                        <a:rPr lang="en-US" sz="1400" dirty="0">
                          <a:solidFill>
                            <a:schemeClr val="tx1"/>
                          </a:solidFill>
                          <a:effectLst/>
                        </a:rPr>
                        <a:t>celestial (alpha and delta)</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gridSpan="3">
                  <a:txBody>
                    <a:bodyPr/>
                    <a:lstStyle/>
                    <a:p>
                      <a:pPr algn="ctr">
                        <a:spcAft>
                          <a:spcPts val="0"/>
                        </a:spcAft>
                      </a:pPr>
                      <a:r>
                        <a:rPr lang="en-US" sz="1400">
                          <a:solidFill>
                            <a:schemeClr val="tx1"/>
                          </a:solidFill>
                          <a:effectLst/>
                        </a:rPr>
                        <a:t>redshift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gridSpan="3">
                  <a:txBody>
                    <a:bodyPr/>
                    <a:lstStyle/>
                    <a:p>
                      <a:pPr algn="ctr">
                        <a:spcAft>
                          <a:spcPts val="0"/>
                        </a:spcAft>
                      </a:pPr>
                      <a:r>
                        <a:rPr lang="en-US" sz="1400">
                          <a:solidFill>
                            <a:schemeClr val="tx1"/>
                          </a:solidFill>
                          <a:effectLst/>
                        </a:rPr>
                        <a:t>all 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98476021"/>
                  </a:ext>
                </a:extLst>
              </a:tr>
              <a:tr h="531124">
                <a:tc>
                  <a:txBody>
                    <a:bodyPr/>
                    <a:lstStyle/>
                    <a:p>
                      <a:pPr algn="ctr">
                        <a:spcAft>
                          <a:spcPts val="0"/>
                        </a:spcAft>
                      </a:pPr>
                      <a:r>
                        <a:rPr lang="en-US" sz="1400" dirty="0">
                          <a:solidFill>
                            <a:schemeClr val="tx1"/>
                          </a:solidFill>
                          <a:effectLst/>
                        </a:rPr>
                        <a:t>k</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dirty="0">
                          <a:solidFill>
                            <a:schemeClr val="tx1"/>
                          </a:solidFill>
                          <a:effectLst/>
                        </a:rPr>
                        <a:t>3</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dirty="0">
                          <a:solidFill>
                            <a:schemeClr val="tx1"/>
                          </a:solidFill>
                          <a:effectLst/>
                        </a:rPr>
                        <a:t>5</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240729689"/>
                  </a:ext>
                </a:extLst>
              </a:tr>
              <a:tr h="1023839">
                <a:tc>
                  <a:txBody>
                    <a:bodyPr/>
                    <a:lstStyle/>
                    <a:p>
                      <a:pPr algn="just">
                        <a:spcAft>
                          <a:spcPts val="0"/>
                        </a:spcAft>
                      </a:pPr>
                      <a:r>
                        <a:rPr lang="en-US" sz="1400">
                          <a:solidFill>
                            <a:schemeClr val="tx1"/>
                          </a:solidFill>
                          <a:effectLst/>
                        </a:rPr>
                        <a:t>silhouette score</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0.3765</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0.3842</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0.3562</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0.4727</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0.4852</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0.4248</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0.6569</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1" dirty="0">
                          <a:solidFill>
                            <a:schemeClr val="tx1"/>
                          </a:solidFill>
                          <a:effectLst/>
                        </a:rPr>
                        <a:t>0.6692</a:t>
                      </a:r>
                      <a:endParaRPr lang="en-US" sz="1400" b="1"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0.6569</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0.3015</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0.2820</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0.2784</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884595270"/>
                  </a:ext>
                </a:extLst>
              </a:tr>
            </a:tbl>
          </a:graphicData>
        </a:graphic>
      </p:graphicFrame>
    </p:spTree>
    <p:extLst>
      <p:ext uri="{BB962C8B-B14F-4D97-AF65-F5344CB8AC3E}">
        <p14:creationId xmlns:p14="http://schemas.microsoft.com/office/powerpoint/2010/main" val="1762399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Detailed Clustering </a:t>
            </a:r>
            <a:r>
              <a:rPr lang="en-US" b="1" dirty="0" smtClean="0">
                <a:solidFill>
                  <a:schemeClr val="accent5">
                    <a:lumMod val="75000"/>
                  </a:schemeClr>
                </a:solidFill>
              </a:rPr>
              <a:t>results</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This table shows the Clustering results. The Silhouette Score shows how good the groups are. The best score is 0.6692 when we use Redshift with 5 groups (k=5). Using just colors (spectral) gives a lower score (0.3842). This means Redshift is best for grouping objects by distance.</a:t>
            </a:r>
          </a:p>
        </p:txBody>
      </p:sp>
      <p:graphicFrame>
        <p:nvGraphicFramePr>
          <p:cNvPr id="8" name="Table 7"/>
          <p:cNvGraphicFramePr>
            <a:graphicFrameLocks noGrp="1"/>
          </p:cNvGraphicFramePr>
          <p:nvPr>
            <p:extLst>
              <p:ext uri="{D42A27DB-BD31-4B8C-83A1-F6EECF244321}">
                <p14:modId xmlns:p14="http://schemas.microsoft.com/office/powerpoint/2010/main" val="1925506535"/>
              </p:ext>
            </p:extLst>
          </p:nvPr>
        </p:nvGraphicFramePr>
        <p:xfrm>
          <a:off x="838206" y="3912780"/>
          <a:ext cx="10515589" cy="2264183"/>
        </p:xfrm>
        <a:graphic>
          <a:graphicData uri="http://schemas.openxmlformats.org/drawingml/2006/table">
            <a:tbl>
              <a:tblPr firstRow="1" firstCol="1" lastRow="1" lastCol="1" bandRow="1" bandCol="1">
                <a:tableStyleId>{5C22544A-7EE6-4342-B048-85BDC9FD1C3A}</a:tableStyleId>
              </a:tblPr>
              <a:tblGrid>
                <a:gridCol w="1145857">
                  <a:extLst>
                    <a:ext uri="{9D8B030D-6E8A-4147-A177-3AD203B41FA5}">
                      <a16:colId xmlns:a16="http://schemas.microsoft.com/office/drawing/2014/main" val="3015694333"/>
                    </a:ext>
                  </a:extLst>
                </a:gridCol>
                <a:gridCol w="780466">
                  <a:extLst>
                    <a:ext uri="{9D8B030D-6E8A-4147-A177-3AD203B41FA5}">
                      <a16:colId xmlns:a16="http://schemas.microsoft.com/office/drawing/2014/main" val="1688803132"/>
                    </a:ext>
                  </a:extLst>
                </a:gridCol>
                <a:gridCol w="780466">
                  <a:extLst>
                    <a:ext uri="{9D8B030D-6E8A-4147-A177-3AD203B41FA5}">
                      <a16:colId xmlns:a16="http://schemas.microsoft.com/office/drawing/2014/main" val="59228374"/>
                    </a:ext>
                  </a:extLst>
                </a:gridCol>
                <a:gridCol w="781501">
                  <a:extLst>
                    <a:ext uri="{9D8B030D-6E8A-4147-A177-3AD203B41FA5}">
                      <a16:colId xmlns:a16="http://schemas.microsoft.com/office/drawing/2014/main" val="551690950"/>
                    </a:ext>
                  </a:extLst>
                </a:gridCol>
                <a:gridCol w="780466">
                  <a:extLst>
                    <a:ext uri="{9D8B030D-6E8A-4147-A177-3AD203B41FA5}">
                      <a16:colId xmlns:a16="http://schemas.microsoft.com/office/drawing/2014/main" val="3016880437"/>
                    </a:ext>
                  </a:extLst>
                </a:gridCol>
                <a:gridCol w="780466">
                  <a:extLst>
                    <a:ext uri="{9D8B030D-6E8A-4147-A177-3AD203B41FA5}">
                      <a16:colId xmlns:a16="http://schemas.microsoft.com/office/drawing/2014/main" val="3290380391"/>
                    </a:ext>
                  </a:extLst>
                </a:gridCol>
                <a:gridCol w="781501">
                  <a:extLst>
                    <a:ext uri="{9D8B030D-6E8A-4147-A177-3AD203B41FA5}">
                      <a16:colId xmlns:a16="http://schemas.microsoft.com/office/drawing/2014/main" val="2736967530"/>
                    </a:ext>
                  </a:extLst>
                </a:gridCol>
                <a:gridCol w="780466">
                  <a:extLst>
                    <a:ext uri="{9D8B030D-6E8A-4147-A177-3AD203B41FA5}">
                      <a16:colId xmlns:a16="http://schemas.microsoft.com/office/drawing/2014/main" val="3098695408"/>
                    </a:ext>
                  </a:extLst>
                </a:gridCol>
                <a:gridCol w="780466">
                  <a:extLst>
                    <a:ext uri="{9D8B030D-6E8A-4147-A177-3AD203B41FA5}">
                      <a16:colId xmlns:a16="http://schemas.microsoft.com/office/drawing/2014/main" val="1319341983"/>
                    </a:ext>
                  </a:extLst>
                </a:gridCol>
                <a:gridCol w="781501">
                  <a:extLst>
                    <a:ext uri="{9D8B030D-6E8A-4147-A177-3AD203B41FA5}">
                      <a16:colId xmlns:a16="http://schemas.microsoft.com/office/drawing/2014/main" val="2652055562"/>
                    </a:ext>
                  </a:extLst>
                </a:gridCol>
                <a:gridCol w="780466">
                  <a:extLst>
                    <a:ext uri="{9D8B030D-6E8A-4147-A177-3AD203B41FA5}">
                      <a16:colId xmlns:a16="http://schemas.microsoft.com/office/drawing/2014/main" val="2878906649"/>
                    </a:ext>
                  </a:extLst>
                </a:gridCol>
                <a:gridCol w="780466">
                  <a:extLst>
                    <a:ext uri="{9D8B030D-6E8A-4147-A177-3AD203B41FA5}">
                      <a16:colId xmlns:a16="http://schemas.microsoft.com/office/drawing/2014/main" val="1214649025"/>
                    </a:ext>
                  </a:extLst>
                </a:gridCol>
                <a:gridCol w="781501">
                  <a:extLst>
                    <a:ext uri="{9D8B030D-6E8A-4147-A177-3AD203B41FA5}">
                      <a16:colId xmlns:a16="http://schemas.microsoft.com/office/drawing/2014/main" val="1489247991"/>
                    </a:ext>
                  </a:extLst>
                </a:gridCol>
              </a:tblGrid>
              <a:tr h="709220">
                <a:tc>
                  <a:txBody>
                    <a:bodyPr/>
                    <a:lstStyle/>
                    <a:p>
                      <a:pPr algn="ctr">
                        <a:spcAft>
                          <a:spcPts val="0"/>
                        </a:spcAft>
                      </a:pPr>
                      <a:r>
                        <a:rPr lang="en-US" sz="1400">
                          <a:solidFill>
                            <a:schemeClr val="tx1"/>
                          </a:solidFill>
                          <a:effectLst/>
                        </a:rPr>
                        <a:t>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gridSpan="3">
                  <a:txBody>
                    <a:bodyPr/>
                    <a:lstStyle/>
                    <a:p>
                      <a:pPr algn="ctr">
                        <a:spcAft>
                          <a:spcPts val="0"/>
                        </a:spcAft>
                      </a:pPr>
                      <a:r>
                        <a:rPr lang="en-US" sz="1400">
                          <a:solidFill>
                            <a:schemeClr val="tx1"/>
                          </a:solidFill>
                          <a:effectLst/>
                        </a:rPr>
                        <a:t>spectral (u, g, r, i, z)</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gridSpan="3">
                  <a:txBody>
                    <a:bodyPr/>
                    <a:lstStyle/>
                    <a:p>
                      <a:pPr algn="ctr">
                        <a:spcAft>
                          <a:spcPts val="0"/>
                        </a:spcAft>
                      </a:pPr>
                      <a:r>
                        <a:rPr lang="en-US" sz="1400" dirty="0">
                          <a:solidFill>
                            <a:schemeClr val="tx1"/>
                          </a:solidFill>
                          <a:effectLst/>
                        </a:rPr>
                        <a:t>celestial (alpha and delta)</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gridSpan="3">
                  <a:txBody>
                    <a:bodyPr/>
                    <a:lstStyle/>
                    <a:p>
                      <a:pPr algn="ctr">
                        <a:spcAft>
                          <a:spcPts val="0"/>
                        </a:spcAft>
                      </a:pPr>
                      <a:r>
                        <a:rPr lang="en-US" sz="1400">
                          <a:solidFill>
                            <a:schemeClr val="tx1"/>
                          </a:solidFill>
                          <a:effectLst/>
                        </a:rPr>
                        <a:t>redshift</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tc gridSpan="3">
                  <a:txBody>
                    <a:bodyPr/>
                    <a:lstStyle/>
                    <a:p>
                      <a:pPr algn="ctr">
                        <a:spcAft>
                          <a:spcPts val="0"/>
                        </a:spcAft>
                      </a:pPr>
                      <a:r>
                        <a:rPr lang="en-US" sz="1400">
                          <a:solidFill>
                            <a:schemeClr val="tx1"/>
                          </a:solidFill>
                          <a:effectLst/>
                        </a:rPr>
                        <a:t>all features</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98476021"/>
                  </a:ext>
                </a:extLst>
              </a:tr>
              <a:tr h="531124">
                <a:tc>
                  <a:txBody>
                    <a:bodyPr/>
                    <a:lstStyle/>
                    <a:p>
                      <a:pPr algn="ctr">
                        <a:spcAft>
                          <a:spcPts val="0"/>
                        </a:spcAft>
                      </a:pPr>
                      <a:r>
                        <a:rPr lang="en-US" sz="1400" dirty="0">
                          <a:solidFill>
                            <a:schemeClr val="tx1"/>
                          </a:solidFill>
                          <a:effectLst/>
                        </a:rPr>
                        <a:t>k</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dirty="0">
                          <a:solidFill>
                            <a:schemeClr val="tx1"/>
                          </a:solidFill>
                          <a:effectLst/>
                        </a:rPr>
                        <a:t>3</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dirty="0">
                          <a:solidFill>
                            <a:schemeClr val="tx1"/>
                          </a:solidFill>
                          <a:effectLst/>
                        </a:rPr>
                        <a:t>5</a:t>
                      </a:r>
                      <a:endParaRPr lang="en-US" sz="140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6</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3</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4</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spcAft>
                          <a:spcPts val="0"/>
                        </a:spcAft>
                      </a:pPr>
                      <a:r>
                        <a:rPr lang="en-US" sz="1400">
                          <a:solidFill>
                            <a:schemeClr val="tx1"/>
                          </a:solidFill>
                          <a:effectLst/>
                        </a:rPr>
                        <a:t>5</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240729689"/>
                  </a:ext>
                </a:extLst>
              </a:tr>
              <a:tr h="1023839">
                <a:tc>
                  <a:txBody>
                    <a:bodyPr/>
                    <a:lstStyle/>
                    <a:p>
                      <a:pPr algn="just">
                        <a:spcAft>
                          <a:spcPts val="0"/>
                        </a:spcAft>
                      </a:pPr>
                      <a:r>
                        <a:rPr lang="en-US" sz="1400">
                          <a:solidFill>
                            <a:schemeClr val="tx1"/>
                          </a:solidFill>
                          <a:effectLst/>
                        </a:rPr>
                        <a:t>silhouette score</a:t>
                      </a:r>
                      <a:endParaRPr lang="en-US" sz="140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0.3765</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0.3842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0.3562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0.4727</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0.4852</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a:solidFill>
                            <a:schemeClr val="tx1"/>
                          </a:solidFill>
                          <a:effectLst/>
                        </a:rPr>
                        <a:t>0.4248</a:t>
                      </a:r>
                      <a:endParaRPr lang="en-US" sz="1400" b="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0.6569</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1" dirty="0">
                          <a:solidFill>
                            <a:schemeClr val="tx1"/>
                          </a:solidFill>
                          <a:effectLst/>
                        </a:rPr>
                        <a:t>0.6692</a:t>
                      </a:r>
                      <a:endParaRPr lang="en-US" sz="1400" b="1"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0.6569</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0.3015</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0.2820</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just">
                        <a:spcAft>
                          <a:spcPts val="0"/>
                        </a:spcAft>
                      </a:pPr>
                      <a:r>
                        <a:rPr lang="en-US" sz="1400" b="0" dirty="0">
                          <a:solidFill>
                            <a:schemeClr val="tx1"/>
                          </a:solidFill>
                          <a:effectLst/>
                        </a:rPr>
                        <a:t>0.2784</a:t>
                      </a:r>
                      <a:endParaRPr lang="en-US" sz="1400" b="0" dirty="0">
                        <a:solidFill>
                          <a:schemeClr val="tx1"/>
                        </a:solidFill>
                        <a:effectLst/>
                        <a:latin typeface="Times New Roman" panose="02020603050405020304" pitchFamily="18" charset="0"/>
                        <a:ea typeface="SimSun" panose="02010600030101010101" pitchFamily="2" charset="-122"/>
                      </a:endParaRPr>
                    </a:p>
                  </a:txBody>
                  <a:tcPr marL="68580" marR="68580" marT="0" marB="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884595270"/>
                  </a:ext>
                </a:extLst>
              </a:tr>
            </a:tbl>
          </a:graphicData>
        </a:graphic>
      </p:graphicFrame>
    </p:spTree>
    <p:extLst>
      <p:ext uri="{BB962C8B-B14F-4D97-AF65-F5344CB8AC3E}">
        <p14:creationId xmlns:p14="http://schemas.microsoft.com/office/powerpoint/2010/main" val="2958986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Clustering: Redshift </a:t>
            </a:r>
            <a:r>
              <a:rPr lang="en-US" b="1" dirty="0" smtClean="0">
                <a:solidFill>
                  <a:schemeClr val="accent5">
                    <a:lumMod val="75000"/>
                  </a:schemeClr>
                </a:solidFill>
              </a:rPr>
              <a:t>performance</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dirty="0"/>
              <a:t>The K-means clustering algorithm was tested using only the </a:t>
            </a:r>
            <a:r>
              <a:rPr lang="en-US" b="1" dirty="0"/>
              <a:t>Redshift</a:t>
            </a:r>
            <a:r>
              <a:rPr lang="en-US" dirty="0"/>
              <a:t> feature, </a:t>
            </a:r>
            <a:r>
              <a:rPr lang="en-US" dirty="0" smtClean="0"/>
              <a:t>and </a:t>
            </a:r>
            <a:r>
              <a:rPr lang="en-US" dirty="0"/>
              <a:t>this approach achieved a high Silhouette Score of </a:t>
            </a:r>
            <a:r>
              <a:rPr lang="en-US" b="1" dirty="0"/>
              <a:t>0.6692</a:t>
            </a:r>
            <a:r>
              <a:rPr lang="en-US" dirty="0"/>
              <a:t>. This excellent result confirms that the </a:t>
            </a:r>
            <a:r>
              <a:rPr lang="en-US" b="1" dirty="0"/>
              <a:t>Redshift value is a dominant feature</a:t>
            </a:r>
            <a:r>
              <a:rPr lang="en-US" dirty="0"/>
              <a:t> for separating celestial </a:t>
            </a:r>
            <a:r>
              <a:rPr lang="en-US" dirty="0" smtClean="0"/>
              <a:t>objects. </a:t>
            </a:r>
            <a:endParaRPr lang="en-US" dirty="0"/>
          </a:p>
        </p:txBody>
      </p:sp>
    </p:spTree>
    <p:extLst>
      <p:ext uri="{BB962C8B-B14F-4D97-AF65-F5344CB8AC3E}">
        <p14:creationId xmlns:p14="http://schemas.microsoft.com/office/powerpoint/2010/main" val="3189215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Clustering: Redshift </a:t>
            </a:r>
            <a:r>
              <a:rPr lang="en-US" b="1" dirty="0" smtClean="0">
                <a:solidFill>
                  <a:schemeClr val="accent5">
                    <a:lumMod val="75000"/>
                  </a:schemeClr>
                </a:solidFill>
              </a:rPr>
              <a:t>performance</a:t>
            </a:r>
            <a:endParaRPr lang="en-US" b="1" dirty="0">
              <a:solidFill>
                <a:schemeClr val="accent5">
                  <a:lumMod val="75000"/>
                </a:schemeClr>
              </a:solidFill>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73322" y="1318437"/>
            <a:ext cx="8702788" cy="4815996"/>
          </a:xfrm>
        </p:spPr>
      </p:pic>
    </p:spTree>
    <p:extLst>
      <p:ext uri="{BB962C8B-B14F-4D97-AF65-F5344CB8AC3E}">
        <p14:creationId xmlns:p14="http://schemas.microsoft.com/office/powerpoint/2010/main" val="2458837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Clustering: Redshift </a:t>
            </a:r>
            <a:r>
              <a:rPr lang="en-US" b="1" dirty="0" smtClean="0">
                <a:solidFill>
                  <a:schemeClr val="accent5">
                    <a:lumMod val="75000"/>
                  </a:schemeClr>
                </a:solidFill>
              </a:rPr>
              <a:t>performance</a:t>
            </a:r>
            <a:endParaRPr lang="en-US" b="1" dirty="0">
              <a:solidFill>
                <a:schemeClr val="accent5">
                  <a:lumMod val="75000"/>
                </a:schemeClr>
              </a:solidFill>
            </a:endParaRPr>
          </a:p>
        </p:txBody>
      </p:sp>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09832" y="1338566"/>
            <a:ext cx="8612364" cy="4765958"/>
          </a:xfrm>
        </p:spPr>
      </p:pic>
    </p:spTree>
    <p:extLst>
      <p:ext uri="{BB962C8B-B14F-4D97-AF65-F5344CB8AC3E}">
        <p14:creationId xmlns:p14="http://schemas.microsoft.com/office/powerpoint/2010/main" val="1354037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Redshift: Physical </a:t>
            </a:r>
            <a:r>
              <a:rPr lang="en-US" b="1" dirty="0" smtClean="0">
                <a:solidFill>
                  <a:schemeClr val="accent5">
                    <a:lumMod val="75000"/>
                  </a:schemeClr>
                </a:solidFill>
              </a:rPr>
              <a:t>interpretation</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normAutofit/>
          </a:bodyPr>
          <a:lstStyle/>
          <a:p>
            <a:pPr algn="just"/>
            <a:r>
              <a:rPr lang="en-US" dirty="0"/>
              <a:t>The effectiveness of clustering by redshift has a clear physical meaning</a:t>
            </a:r>
            <a:r>
              <a:rPr lang="en-US" dirty="0" smtClean="0"/>
              <a:t>.</a:t>
            </a:r>
            <a:endParaRPr lang="en-US" dirty="0"/>
          </a:p>
          <a:p>
            <a:pPr algn="just"/>
            <a:r>
              <a:rPr lang="en-US" b="1" dirty="0"/>
              <a:t>Stars</a:t>
            </a:r>
            <a:r>
              <a:rPr lang="en-US" dirty="0"/>
              <a:t> are the </a:t>
            </a:r>
            <a:r>
              <a:rPr lang="en-US" b="1" dirty="0"/>
              <a:t>closest</a:t>
            </a:r>
            <a:r>
              <a:rPr lang="en-US" dirty="0"/>
              <a:t> objects, showing a small redshift</a:t>
            </a:r>
            <a:r>
              <a:rPr lang="en-US" dirty="0" smtClean="0"/>
              <a:t>.</a:t>
            </a:r>
            <a:endParaRPr lang="en-US" dirty="0"/>
          </a:p>
          <a:p>
            <a:pPr algn="just"/>
            <a:r>
              <a:rPr lang="en-US" b="1" dirty="0"/>
              <a:t>Galaxies</a:t>
            </a:r>
            <a:r>
              <a:rPr lang="en-US" dirty="0"/>
              <a:t> are </a:t>
            </a:r>
            <a:r>
              <a:rPr lang="en-US" b="1" dirty="0"/>
              <a:t>farther away</a:t>
            </a:r>
            <a:r>
              <a:rPr lang="en-US" dirty="0"/>
              <a:t> and have a medium redshift</a:t>
            </a:r>
            <a:r>
              <a:rPr lang="en-US" dirty="0" smtClean="0"/>
              <a:t>.</a:t>
            </a:r>
            <a:endParaRPr lang="en-US" dirty="0"/>
          </a:p>
          <a:p>
            <a:pPr algn="just"/>
            <a:r>
              <a:rPr lang="en-US" b="1" dirty="0"/>
              <a:t>Quasars</a:t>
            </a:r>
            <a:r>
              <a:rPr lang="en-US" dirty="0"/>
              <a:t> are </a:t>
            </a:r>
            <a:r>
              <a:rPr lang="en-US" b="1" dirty="0"/>
              <a:t>the farthest objects </a:t>
            </a:r>
            <a:r>
              <a:rPr lang="en-US" dirty="0"/>
              <a:t>in our dataset, which results in a </a:t>
            </a:r>
            <a:r>
              <a:rPr lang="en-US" b="1" dirty="0"/>
              <a:t>large redshift</a:t>
            </a:r>
            <a:r>
              <a:rPr lang="en-US" dirty="0"/>
              <a:t>. This natural grouping by </a:t>
            </a:r>
            <a:r>
              <a:rPr lang="en-US" b="1" dirty="0"/>
              <a:t>distance (redshift) </a:t>
            </a:r>
            <a:r>
              <a:rPr lang="en-US" dirty="0"/>
              <a:t>explains why our clustering models can </a:t>
            </a:r>
            <a:r>
              <a:rPr lang="en-US" b="1" dirty="0"/>
              <a:t>separate the classes so effectively</a:t>
            </a:r>
            <a:r>
              <a:rPr lang="en-US" dirty="0"/>
              <a:t>.</a:t>
            </a:r>
          </a:p>
        </p:txBody>
      </p:sp>
    </p:spTree>
    <p:extLst>
      <p:ext uri="{BB962C8B-B14F-4D97-AF65-F5344CB8AC3E}">
        <p14:creationId xmlns:p14="http://schemas.microsoft.com/office/powerpoint/2010/main" val="40011435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K-means Cluster </a:t>
            </a:r>
            <a:r>
              <a:rPr lang="en-US" b="1" dirty="0" smtClean="0">
                <a:solidFill>
                  <a:schemeClr val="accent5">
                    <a:lumMod val="75000"/>
                  </a:schemeClr>
                </a:solidFill>
              </a:rPr>
              <a:t>map</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This visual shows the K-means result using spectral features with 3 groups (k=3). The automatically generated clusters are visible, but they do not perfectly match the real object types. This confirms that spectral features alone are not sufficient for clear separation.</a:t>
            </a:r>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7802" t="6935" r="8633" b="2909"/>
          <a:stretch/>
        </p:blipFill>
        <p:spPr bwMode="auto">
          <a:xfrm>
            <a:off x="838201" y="3583171"/>
            <a:ext cx="5169194" cy="2593792"/>
          </a:xfrm>
          <a:prstGeom prst="rect">
            <a:avLst/>
          </a:prstGeom>
          <a:ln>
            <a:noFill/>
          </a:ln>
          <a:extLst>
            <a:ext uri="{53640926-AAD7-44D8-BBD7-CCE9431645EC}">
              <a14:shadowObscured xmlns:a14="http://schemas.microsoft.com/office/drawing/2010/main"/>
            </a:ext>
          </a:extLst>
        </p:spPr>
      </p:pic>
      <p:pic>
        <p:nvPicPr>
          <p:cNvPr id="5" name="Picture 4"/>
          <p:cNvPicPr/>
          <p:nvPr/>
        </p:nvPicPr>
        <p:blipFill rotWithShape="1">
          <a:blip r:embed="rId4" cstate="print">
            <a:extLst>
              <a:ext uri="{28A0092B-C50C-407E-A947-70E740481C1C}">
                <a14:useLocalDpi xmlns:a14="http://schemas.microsoft.com/office/drawing/2010/main" val="0"/>
              </a:ext>
            </a:extLst>
          </a:blip>
          <a:srcRect l="7037" t="6845" r="7783" b="3380"/>
          <a:stretch/>
        </p:blipFill>
        <p:spPr bwMode="auto">
          <a:xfrm>
            <a:off x="6241312" y="3583170"/>
            <a:ext cx="5112487" cy="259379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4091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K-means Cluster </a:t>
            </a:r>
            <a:r>
              <a:rPr lang="en-US" b="1" dirty="0" smtClean="0">
                <a:solidFill>
                  <a:schemeClr val="accent5">
                    <a:lumMod val="75000"/>
                  </a:schemeClr>
                </a:solidFill>
              </a:rPr>
              <a:t>map </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This map presents K-means clustering based on position features (celestial coordinates) with 4 groups (k=4). Due to the overlap of object positions on the sky, this clustering also shows limited success in separating the object classes.</a:t>
            </a:r>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7572" t="7572" r="8976" b="3453"/>
          <a:stretch/>
        </p:blipFill>
        <p:spPr bwMode="auto">
          <a:xfrm>
            <a:off x="838200" y="3540641"/>
            <a:ext cx="5179828" cy="2636321"/>
          </a:xfrm>
          <a:prstGeom prst="rect">
            <a:avLst/>
          </a:prstGeom>
          <a:ln>
            <a:noFill/>
          </a:ln>
          <a:extLst>
            <a:ext uri="{53640926-AAD7-44D8-BBD7-CCE9431645EC}">
              <a14:shadowObscured xmlns:a14="http://schemas.microsoft.com/office/drawing/2010/main"/>
            </a:ext>
          </a:extLst>
        </p:spPr>
      </p:pic>
      <p:pic>
        <p:nvPicPr>
          <p:cNvPr id="5" name="Picture 4"/>
          <p:cNvPicPr/>
          <p:nvPr/>
        </p:nvPicPr>
        <p:blipFill rotWithShape="1">
          <a:blip r:embed="rId4" cstate="print">
            <a:extLst>
              <a:ext uri="{28A0092B-C50C-407E-A947-70E740481C1C}">
                <a14:useLocalDpi xmlns:a14="http://schemas.microsoft.com/office/drawing/2010/main" val="0"/>
              </a:ext>
            </a:extLst>
          </a:blip>
          <a:srcRect l="7589" t="7244" r="9267" b="3404"/>
          <a:stretch/>
        </p:blipFill>
        <p:spPr bwMode="auto">
          <a:xfrm>
            <a:off x="6156251" y="3540641"/>
            <a:ext cx="5197548" cy="26363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58606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K-means </a:t>
            </a:r>
            <a:r>
              <a:rPr lang="en-US" b="1" dirty="0" smtClean="0">
                <a:solidFill>
                  <a:schemeClr val="accent5">
                    <a:lumMod val="75000"/>
                  </a:schemeClr>
                </a:solidFill>
              </a:rPr>
              <a:t>Cluster map</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a:xfrm>
            <a:off x="838200" y="1573619"/>
            <a:ext cx="10515600" cy="4603344"/>
          </a:xfrm>
        </p:spPr>
        <p:txBody>
          <a:bodyPr/>
          <a:lstStyle/>
          <a:p>
            <a:pPr algn="just"/>
            <a:r>
              <a:rPr lang="en-US" dirty="0"/>
              <a:t>This shows the K-means result using all features with 3 groups (k=3). Although it combines all data, the overlap is still significant, confirming that a perfect separation of classes with K-means is difficult because the real object types do not have distinct spectral features.</a:t>
            </a:r>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7791" t="7792" r="8886" b="3504"/>
          <a:stretch/>
        </p:blipFill>
        <p:spPr bwMode="auto">
          <a:xfrm>
            <a:off x="838202" y="3498112"/>
            <a:ext cx="5062868" cy="2678851"/>
          </a:xfrm>
          <a:prstGeom prst="rect">
            <a:avLst/>
          </a:prstGeom>
          <a:ln>
            <a:noFill/>
          </a:ln>
          <a:extLst>
            <a:ext uri="{53640926-AAD7-44D8-BBD7-CCE9431645EC}">
              <a14:shadowObscured xmlns:a14="http://schemas.microsoft.com/office/drawing/2010/main"/>
            </a:ext>
          </a:extLst>
        </p:spPr>
      </p:pic>
      <p:pic>
        <p:nvPicPr>
          <p:cNvPr id="5" name="Picture 4"/>
          <p:cNvPicPr/>
          <p:nvPr/>
        </p:nvPicPr>
        <p:blipFill rotWithShape="1">
          <a:blip r:embed="rId4" cstate="print">
            <a:extLst>
              <a:ext uri="{28A0092B-C50C-407E-A947-70E740481C1C}">
                <a14:useLocalDpi xmlns:a14="http://schemas.microsoft.com/office/drawing/2010/main" val="0"/>
              </a:ext>
            </a:extLst>
          </a:blip>
          <a:srcRect l="7558" t="7032" r="9096" b="3294"/>
          <a:stretch/>
        </p:blipFill>
        <p:spPr bwMode="auto">
          <a:xfrm>
            <a:off x="6241312" y="3498112"/>
            <a:ext cx="5112488" cy="26788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195616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DBSCAN Analysis </a:t>
            </a:r>
            <a:r>
              <a:rPr lang="en-US" b="1" dirty="0" smtClean="0">
                <a:solidFill>
                  <a:schemeClr val="accent5">
                    <a:lumMod val="75000"/>
                  </a:schemeClr>
                </a:solidFill>
              </a:rPr>
              <a:t>graph</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a:xfrm>
            <a:off x="838200" y="1828799"/>
            <a:ext cx="4850217" cy="4348163"/>
          </a:xfrm>
        </p:spPr>
        <p:txBody>
          <a:bodyPr>
            <a:normAutofit lnSpcReduction="10000"/>
          </a:bodyPr>
          <a:lstStyle/>
          <a:p>
            <a:pPr algn="just"/>
            <a:r>
              <a:rPr lang="en-US" dirty="0"/>
              <a:t>This is the k-NN distance graph used to select the optimal parameter 'eps' (epsilon) for the DBSCAN algorithm. </a:t>
            </a:r>
            <a:endParaRPr lang="en-US" dirty="0" smtClean="0"/>
          </a:p>
          <a:p>
            <a:pPr algn="just"/>
            <a:r>
              <a:rPr lang="en-US" dirty="0" smtClean="0"/>
              <a:t>We </a:t>
            </a:r>
            <a:r>
              <a:rPr lang="en-US" dirty="0"/>
              <a:t>look for the "elbow" (the sharp change in slope) to determine the best distance threshold. </a:t>
            </a:r>
            <a:endParaRPr lang="en-US" dirty="0" smtClean="0"/>
          </a:p>
          <a:p>
            <a:pPr algn="just"/>
            <a:r>
              <a:rPr lang="en-US" dirty="0" smtClean="0"/>
              <a:t>The </a:t>
            </a:r>
            <a:r>
              <a:rPr lang="en-US" dirty="0"/>
              <a:t>chosen starting value for 'eps' is around 0.38.</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5688418" y="1531089"/>
            <a:ext cx="5665381" cy="4645874"/>
          </a:xfrm>
          <a:prstGeom prst="rect">
            <a:avLst/>
          </a:prstGeom>
        </p:spPr>
      </p:pic>
    </p:spTree>
    <p:extLst>
      <p:ext uri="{BB962C8B-B14F-4D97-AF65-F5344CB8AC3E}">
        <p14:creationId xmlns:p14="http://schemas.microsoft.com/office/powerpoint/2010/main" val="3605868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DBSCAN Clustering </a:t>
            </a:r>
            <a:r>
              <a:rPr lang="en-US" b="1" dirty="0" smtClean="0">
                <a:solidFill>
                  <a:schemeClr val="accent5">
                    <a:lumMod val="75000"/>
                  </a:schemeClr>
                </a:solidFill>
              </a:rPr>
              <a:t>result</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This is the result of DBSCAN clustering. The method performed poorly (V-measure score of 0.00), failing to group objects correctly. It marked many data points (811) as noise. This failure proves DBSCAN is not suitable for this dense dataset.</a:t>
            </a:r>
          </a:p>
        </p:txBody>
      </p:sp>
      <p:pic>
        <p:nvPicPr>
          <p:cNvPr id="4" name="Picture 3"/>
          <p:cNvPicPr/>
          <p:nvPr/>
        </p:nvPicPr>
        <p:blipFill rotWithShape="1">
          <a:blip r:embed="rId3" cstate="print">
            <a:extLst>
              <a:ext uri="{28A0092B-C50C-407E-A947-70E740481C1C}">
                <a14:useLocalDpi xmlns:a14="http://schemas.microsoft.com/office/drawing/2010/main" val="0"/>
              </a:ext>
            </a:extLst>
          </a:blip>
          <a:srcRect l="7744" t="7523" r="9263" b="3065"/>
          <a:stretch/>
        </p:blipFill>
        <p:spPr bwMode="auto">
          <a:xfrm>
            <a:off x="838201" y="3413049"/>
            <a:ext cx="5318048" cy="2763914"/>
          </a:xfrm>
          <a:prstGeom prst="rect">
            <a:avLst/>
          </a:prstGeom>
          <a:ln>
            <a:noFill/>
          </a:ln>
          <a:extLst>
            <a:ext uri="{53640926-AAD7-44D8-BBD7-CCE9431645EC}">
              <a14:shadowObscured xmlns:a14="http://schemas.microsoft.com/office/drawing/2010/main"/>
            </a:ext>
          </a:extLst>
        </p:spPr>
      </p:pic>
      <p:pic>
        <p:nvPicPr>
          <p:cNvPr id="5" name="Picture 4"/>
          <p:cNvPicPr/>
          <p:nvPr/>
        </p:nvPicPr>
        <p:blipFill rotWithShape="1">
          <a:blip r:embed="rId4" cstate="print">
            <a:extLst>
              <a:ext uri="{28A0092B-C50C-407E-A947-70E740481C1C}">
                <a14:useLocalDpi xmlns:a14="http://schemas.microsoft.com/office/drawing/2010/main" val="0"/>
              </a:ext>
            </a:extLst>
          </a:blip>
          <a:srcRect l="7930" t="7570" r="9167" b="3400"/>
          <a:stretch/>
        </p:blipFill>
        <p:spPr bwMode="auto">
          <a:xfrm>
            <a:off x="6156250" y="3413050"/>
            <a:ext cx="5197549" cy="276391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48712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Results </a:t>
            </a:r>
            <a:r>
              <a:rPr lang="en-US" b="1" dirty="0" smtClean="0">
                <a:solidFill>
                  <a:schemeClr val="accent5">
                    <a:lumMod val="75000"/>
                  </a:schemeClr>
                </a:solidFill>
              </a:rPr>
              <a:t>summary </a:t>
            </a:r>
            <a:r>
              <a:rPr lang="en-US" b="1" dirty="0">
                <a:solidFill>
                  <a:schemeClr val="accent5">
                    <a:lumMod val="75000"/>
                  </a:schemeClr>
                </a:solidFill>
              </a:rPr>
              <a:t>and Scientific </a:t>
            </a:r>
            <a:r>
              <a:rPr lang="en-US" b="1" dirty="0" smtClean="0">
                <a:solidFill>
                  <a:schemeClr val="accent5">
                    <a:lumMod val="75000"/>
                  </a:schemeClr>
                </a:solidFill>
              </a:rPr>
              <a:t>impact</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Our results are strong. Classification (0.9796) is competitive with other high-accuracy studies and better than rough estimates like </a:t>
            </a:r>
            <a:r>
              <a:rPr lang="en-US" dirty="0" err="1"/>
              <a:t>PhotoZ</a:t>
            </a:r>
            <a:r>
              <a:rPr lang="en-US" dirty="0"/>
              <a:t>. This proves our ML model is a fast and efficient alternative to the precise but slow </a:t>
            </a:r>
            <a:r>
              <a:rPr lang="en-US" dirty="0" err="1"/>
              <a:t>SPoT</a:t>
            </a:r>
            <a:r>
              <a:rPr lang="en-US" dirty="0"/>
              <a:t> method</a:t>
            </a:r>
            <a:r>
              <a:rPr lang="en-US" dirty="0" smtClean="0"/>
              <a:t>. </a:t>
            </a:r>
          </a:p>
          <a:p>
            <a:pPr algn="just"/>
            <a:r>
              <a:rPr lang="en-US" dirty="0" smtClean="0"/>
              <a:t>This </a:t>
            </a:r>
            <a:r>
              <a:rPr lang="en-US" dirty="0"/>
              <a:t>work helps streamline future astronomy classifications. </a:t>
            </a:r>
            <a:endParaRPr lang="en-US" dirty="0" smtClean="0"/>
          </a:p>
          <a:p>
            <a:pPr algn="just"/>
            <a:r>
              <a:rPr lang="en-US" dirty="0" smtClean="0"/>
              <a:t>The </a:t>
            </a:r>
            <a:r>
              <a:rPr lang="en-US" dirty="0"/>
              <a:t>study also confirms the high importance of the redshift feature for classification </a:t>
            </a:r>
            <a:r>
              <a:rPr lang="en-US" dirty="0" smtClean="0"/>
              <a:t>and a </a:t>
            </a:r>
            <a:r>
              <a:rPr lang="en-US" dirty="0"/>
              <a:t>grouping.</a:t>
            </a:r>
          </a:p>
        </p:txBody>
      </p:sp>
    </p:spTree>
    <p:extLst>
      <p:ext uri="{BB962C8B-B14F-4D97-AF65-F5344CB8AC3E}">
        <p14:creationId xmlns:p14="http://schemas.microsoft.com/office/powerpoint/2010/main" val="1995946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How it compares to other studies</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We compare our work to other studies. </a:t>
            </a:r>
            <a:endParaRPr lang="en-US" dirty="0" smtClean="0"/>
          </a:p>
          <a:p>
            <a:pPr algn="just"/>
            <a:r>
              <a:rPr lang="en-US" dirty="0" smtClean="0"/>
              <a:t>One </a:t>
            </a:r>
            <a:r>
              <a:rPr lang="en-US" dirty="0"/>
              <a:t>study used deep networks and got 98% accuracy. </a:t>
            </a:r>
            <a:endParaRPr lang="en-US" dirty="0" smtClean="0"/>
          </a:p>
          <a:p>
            <a:pPr algn="just"/>
            <a:r>
              <a:rPr lang="en-US" dirty="0" smtClean="0"/>
              <a:t>Another </a:t>
            </a:r>
            <a:r>
              <a:rPr lang="en-US" dirty="0"/>
              <a:t>used Random Forest and got 97.86% accuracy. </a:t>
            </a:r>
            <a:endParaRPr lang="en-US" dirty="0" smtClean="0"/>
          </a:p>
          <a:p>
            <a:pPr algn="just"/>
            <a:r>
              <a:rPr lang="en-US" dirty="0" smtClean="0"/>
              <a:t>Our </a:t>
            </a:r>
            <a:r>
              <a:rPr lang="en-US" dirty="0"/>
              <a:t>result of 97.96% with Random Forest is competitive. </a:t>
            </a:r>
            <a:endParaRPr lang="en-US" dirty="0" smtClean="0"/>
          </a:p>
          <a:p>
            <a:pPr algn="just"/>
            <a:r>
              <a:rPr lang="en-US" dirty="0" smtClean="0"/>
              <a:t>We </a:t>
            </a:r>
            <a:r>
              <a:rPr lang="en-US" dirty="0"/>
              <a:t>show that ML with open data works </a:t>
            </a:r>
            <a:r>
              <a:rPr lang="en-US" dirty="0" smtClean="0"/>
              <a:t>well.</a:t>
            </a:r>
            <a:endParaRPr lang="en-US" dirty="0"/>
          </a:p>
        </p:txBody>
      </p:sp>
    </p:spTree>
    <p:extLst>
      <p:ext uri="{BB962C8B-B14F-4D97-AF65-F5344CB8AC3E}">
        <p14:creationId xmlns:p14="http://schemas.microsoft.com/office/powerpoint/2010/main" val="185092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Why </a:t>
            </a:r>
            <a:r>
              <a:rPr lang="en-US" b="1" dirty="0" smtClean="0">
                <a:solidFill>
                  <a:schemeClr val="accent5">
                    <a:lumMod val="75000"/>
                  </a:schemeClr>
                </a:solidFill>
              </a:rPr>
              <a:t>our work </a:t>
            </a:r>
            <a:r>
              <a:rPr lang="en-US" b="1" dirty="0">
                <a:solidFill>
                  <a:schemeClr val="accent5">
                    <a:lumMod val="75000"/>
                  </a:schemeClr>
                </a:solidFill>
              </a:rPr>
              <a:t>is </a:t>
            </a:r>
            <a:r>
              <a:rPr lang="en-US" b="1" dirty="0" smtClean="0">
                <a:solidFill>
                  <a:schemeClr val="accent5">
                    <a:lumMod val="75000"/>
                  </a:schemeClr>
                </a:solidFill>
              </a:rPr>
              <a:t>important</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Our work is important because it validates ML for astronomy. SDSS data teaches us about the universe. Our 0.9796 accuracy proves our methods work. </a:t>
            </a:r>
            <a:endParaRPr lang="en-US" dirty="0" smtClean="0"/>
          </a:p>
          <a:p>
            <a:pPr algn="just"/>
            <a:r>
              <a:rPr lang="en-US" dirty="0" smtClean="0"/>
              <a:t>Open </a:t>
            </a:r>
            <a:r>
              <a:rPr lang="en-US" dirty="0"/>
              <a:t>data helps everyone. </a:t>
            </a:r>
            <a:endParaRPr lang="en-US" dirty="0" smtClean="0"/>
          </a:p>
          <a:p>
            <a:pPr algn="just"/>
            <a:r>
              <a:rPr lang="en-US" dirty="0" smtClean="0"/>
              <a:t>This </a:t>
            </a:r>
            <a:r>
              <a:rPr lang="en-US" dirty="0"/>
              <a:t>work may help large space </a:t>
            </a:r>
            <a:r>
              <a:rPr lang="en-US" dirty="0" smtClean="0"/>
              <a:t>missions later.</a:t>
            </a:r>
            <a:endParaRPr lang="en-US" dirty="0"/>
          </a:p>
        </p:txBody>
      </p:sp>
    </p:spTree>
    <p:extLst>
      <p:ext uri="{BB962C8B-B14F-4D97-AF65-F5344CB8AC3E}">
        <p14:creationId xmlns:p14="http://schemas.microsoft.com/office/powerpoint/2010/main" val="3670775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Future </a:t>
            </a:r>
            <a:r>
              <a:rPr lang="en-US" b="1" dirty="0" smtClean="0">
                <a:solidFill>
                  <a:schemeClr val="accent5">
                    <a:lumMod val="75000"/>
                  </a:schemeClr>
                </a:solidFill>
              </a:rPr>
              <a:t>plans</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We want to continue our research. We will improve machine learning with SDSS data. We will add data from other sky surveys (implicit in future work). </a:t>
            </a:r>
            <a:endParaRPr lang="en-US" dirty="0" smtClean="0"/>
          </a:p>
          <a:p>
            <a:pPr algn="just"/>
            <a:r>
              <a:rPr lang="en-US" dirty="0"/>
              <a:t>The reported metrics represent single-run results for each algorithm. Future work will include multiple runs with different random seeds to compute standard deviations and confidence intervals, providing a more robust statistical evaluation of model performance.</a:t>
            </a:r>
            <a:endParaRPr lang="en-US" dirty="0" smtClean="0"/>
          </a:p>
          <a:p>
            <a:pPr algn="just"/>
            <a:r>
              <a:rPr lang="en-US" dirty="0" smtClean="0"/>
              <a:t>We </a:t>
            </a:r>
            <a:r>
              <a:rPr lang="en-US" dirty="0"/>
              <a:t>will study dark matter and dark energy (implied by SDSS science goals). This will help science </a:t>
            </a:r>
            <a:r>
              <a:rPr lang="en-US" dirty="0" smtClean="0"/>
              <a:t>grow.</a:t>
            </a:r>
            <a:endParaRPr lang="en-US" dirty="0"/>
          </a:p>
        </p:txBody>
      </p:sp>
    </p:spTree>
    <p:extLst>
      <p:ext uri="{BB962C8B-B14F-4D97-AF65-F5344CB8AC3E}">
        <p14:creationId xmlns:p14="http://schemas.microsoft.com/office/powerpoint/2010/main" val="25143303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Challenges </a:t>
            </a:r>
            <a:r>
              <a:rPr lang="en-US" b="1" dirty="0" smtClean="0">
                <a:solidFill>
                  <a:schemeClr val="accent5">
                    <a:lumMod val="75000"/>
                  </a:schemeClr>
                </a:solidFill>
              </a:rPr>
              <a:t>we faced</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The main challenges were: Data cleaning (100,000 objects), Selecting optimal ML methods, and handling the failure of DBSCAN to form clusters, which suggests the inadequacy of density-based methods for this feature distribution. </a:t>
            </a:r>
            <a:endParaRPr lang="en-US" dirty="0" smtClean="0"/>
          </a:p>
          <a:p>
            <a:pPr algn="just"/>
            <a:r>
              <a:rPr lang="en-US" dirty="0" smtClean="0"/>
              <a:t>We </a:t>
            </a:r>
            <a:r>
              <a:rPr lang="en-US" dirty="0"/>
              <a:t>successfully overcame these issues.</a:t>
            </a:r>
          </a:p>
        </p:txBody>
      </p:sp>
    </p:spTree>
    <p:extLst>
      <p:ext uri="{BB962C8B-B14F-4D97-AF65-F5344CB8AC3E}">
        <p14:creationId xmlns:p14="http://schemas.microsoft.com/office/powerpoint/2010/main" val="3051355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Additional Scientific </a:t>
            </a:r>
            <a:r>
              <a:rPr lang="en-US" b="1" dirty="0" smtClean="0">
                <a:solidFill>
                  <a:schemeClr val="accent5">
                    <a:lumMod val="75000"/>
                  </a:schemeClr>
                </a:solidFill>
              </a:rPr>
              <a:t>impact</a:t>
            </a:r>
            <a:endParaRPr lang="en-US" b="1" dirty="0">
              <a:solidFill>
                <a:schemeClr val="accent5">
                  <a:lumMod val="75000"/>
                </a:schemeClr>
              </a:solidFill>
            </a:endParaRP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The study confirms the high importance of the redshift feature for classification and grouping. It also highlights the didactic value of the SDSS17 dataset, supporting the use of ML in educational settings, training future researchers with open-source tools and data.</a:t>
            </a:r>
          </a:p>
        </p:txBody>
      </p:sp>
    </p:spTree>
    <p:extLst>
      <p:ext uri="{BB962C8B-B14F-4D97-AF65-F5344CB8AC3E}">
        <p14:creationId xmlns:p14="http://schemas.microsoft.com/office/powerpoint/2010/main" val="1455237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r>
              <a:rPr lang="en-US" b="1" dirty="0">
                <a:solidFill>
                  <a:schemeClr val="accent5">
                    <a:lumMod val="75000"/>
                  </a:schemeClr>
                </a:solidFill>
              </a:rPr>
              <a:t>Conclusion</a:t>
            </a:r>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pPr algn="just"/>
            <a:r>
              <a:rPr lang="en-US" dirty="0"/>
              <a:t>In summary, we used SDSS17 data with ML for strong results in classification, prediction, and grouping. </a:t>
            </a:r>
            <a:endParaRPr lang="en-US" dirty="0" smtClean="0"/>
          </a:p>
          <a:p>
            <a:pPr algn="just"/>
            <a:r>
              <a:rPr lang="en-US" dirty="0" smtClean="0"/>
              <a:t>We </a:t>
            </a:r>
            <a:r>
              <a:rPr lang="en-US" dirty="0"/>
              <a:t>emphasize the importance of open science in democratizing access to high-quality astronomical data. Our findings help advance astronomy. </a:t>
            </a:r>
            <a:endParaRPr lang="en-US" dirty="0" smtClean="0"/>
          </a:p>
          <a:p>
            <a:pPr algn="just"/>
            <a:r>
              <a:rPr lang="en-US" dirty="0" smtClean="0"/>
              <a:t>Thank </a:t>
            </a:r>
            <a:r>
              <a:rPr lang="en-US" dirty="0"/>
              <a:t>you for listening. </a:t>
            </a:r>
            <a:endParaRPr lang="en-US" dirty="0" smtClean="0"/>
          </a:p>
          <a:p>
            <a:pPr algn="just"/>
            <a:r>
              <a:rPr lang="en-US" dirty="0" smtClean="0"/>
              <a:t>Are </a:t>
            </a:r>
            <a:r>
              <a:rPr lang="en-US" dirty="0"/>
              <a:t>there any questions?</a:t>
            </a:r>
          </a:p>
        </p:txBody>
      </p:sp>
    </p:spTree>
    <p:extLst>
      <p:ext uri="{BB962C8B-B14F-4D97-AF65-F5344CB8AC3E}">
        <p14:creationId xmlns:p14="http://schemas.microsoft.com/office/powerpoint/2010/main" val="3029082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9A037-206D-4FF4-09FB-878D6C6805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F82114-CBD0-BAA9-2DDB-9BDFE4FE1BF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77048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1590</TotalTime>
  <Words>2948</Words>
  <Application>Microsoft Office PowerPoint</Application>
  <PresentationFormat>Widescreen</PresentationFormat>
  <Paragraphs>424</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SimSun</vt:lpstr>
      <vt:lpstr>Arial</vt:lpstr>
      <vt:lpstr>Arial</vt:lpstr>
      <vt:lpstr>Calibri</vt:lpstr>
      <vt:lpstr>Calibri Light</vt:lpstr>
      <vt:lpstr>Liberation Sans</vt:lpstr>
      <vt:lpstr>Times New Roman</vt:lpstr>
      <vt:lpstr>Office Theme</vt:lpstr>
      <vt:lpstr>Machine Learning-Based Analysis of Celestial Objects Using the SDSS17 Dataset</vt:lpstr>
      <vt:lpstr>What is this study about?</vt:lpstr>
      <vt:lpstr>Introduction – SDSS Project</vt:lpstr>
      <vt:lpstr>What are Square Degrees? </vt:lpstr>
      <vt:lpstr>SDSS Data Collection and Labeling</vt:lpstr>
      <vt:lpstr>Understanding PhotoZ and SPoT Algorithms </vt:lpstr>
      <vt:lpstr>Detailed Role of SPoT in Spectral Analysis</vt:lpstr>
      <vt:lpstr>Redshift: A scientific perspective </vt:lpstr>
      <vt:lpstr>Spectrometry in Redshift measurement</vt:lpstr>
      <vt:lpstr>Discoveries from SDSS</vt:lpstr>
      <vt:lpstr>Why SDSS17 Data?</vt:lpstr>
      <vt:lpstr>Tools we used</vt:lpstr>
      <vt:lpstr>Detailed Dataset Features (SDSS17)</vt:lpstr>
      <vt:lpstr>Detailed Dataset Features (SDSS17)</vt:lpstr>
      <vt:lpstr>Why we use ML on already classified data? </vt:lpstr>
      <vt:lpstr>Experiments: Classification summary</vt:lpstr>
      <vt:lpstr>Experiments: Classification summary</vt:lpstr>
      <vt:lpstr>Confusion Matrix (Random Forest)</vt:lpstr>
      <vt:lpstr>Comparison with related work </vt:lpstr>
      <vt:lpstr>Another experiments: Regression summary</vt:lpstr>
      <vt:lpstr>Detailed Regression results</vt:lpstr>
      <vt:lpstr>k-NN Performance optimization </vt:lpstr>
      <vt:lpstr>LightGBM Hyperparameter tuning </vt:lpstr>
      <vt:lpstr>Another experiments: Clustering summary</vt:lpstr>
      <vt:lpstr>Detailed Clustering results</vt:lpstr>
      <vt:lpstr>Clustering: Redshift performance</vt:lpstr>
      <vt:lpstr>Clustering: Redshift performance</vt:lpstr>
      <vt:lpstr>Clustering: Redshift performance</vt:lpstr>
      <vt:lpstr>Redshift: Physical interpretation</vt:lpstr>
      <vt:lpstr>K-means Cluster map</vt:lpstr>
      <vt:lpstr>K-means Cluster map </vt:lpstr>
      <vt:lpstr>K-means Cluster map</vt:lpstr>
      <vt:lpstr>DBSCAN Analysis graph</vt:lpstr>
      <vt:lpstr>DBSCAN Clustering result</vt:lpstr>
      <vt:lpstr>Results summary and Scientific impact</vt:lpstr>
      <vt:lpstr>How it compares to other studies</vt:lpstr>
      <vt:lpstr>Why our work is important</vt:lpstr>
      <vt:lpstr>Future plans</vt:lpstr>
      <vt:lpstr>Challenges we faced</vt:lpstr>
      <vt:lpstr>Additional Scientific impact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Adriana Burlibasa</dc:creator>
  <cp:lastModifiedBy>Cody</cp:lastModifiedBy>
  <cp:revision>57</cp:revision>
  <dcterms:created xsi:type="dcterms:W3CDTF">2025-10-24T13:00:39Z</dcterms:created>
  <dcterms:modified xsi:type="dcterms:W3CDTF">2025-10-31T06:55:29Z</dcterms:modified>
</cp:coreProperties>
</file>